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117" d="100"/>
          <a:sy n="117" d="100"/>
        </p:scale>
        <p:origin x="510" y="10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handoutMaster" Target="handoutMasters/handoutMaster1.xml"/><Relationship Id="rId34" Type="http://schemas.openxmlformats.org/officeDocument/2006/relationships/notesMaster" Target="notesMasters/notesMaster1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Calibri Light" panose="020F0302020204030204" pitchFamily="34" charset="0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effectLst/>
                <a:latin typeface="Calibri Light" panose="020F030202020403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/>
              <a:t>Second level 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 smtClean="0">
              <a:sym typeface="+mn-ea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kumimoji="0" lang="en-US" sz="2800" b="0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r>
              <a:rPr lang="en-US" dirty="0" smtClean="0">
                <a:sym typeface="+mn-ea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en-US" dirty="0">
                <a:sym typeface="+mn-ea"/>
              </a:rPr>
              <a:t>Click to edit Master text styles</a:t>
            </a:r>
            <a:endParaRPr lang="en-US" dirty="0"/>
          </a:p>
          <a:p>
            <a:pPr lvl="1"/>
            <a:r>
              <a:rPr lang="en-US" dirty="0">
                <a:sym typeface="+mn-ea"/>
              </a:rPr>
              <a:t>Second level</a:t>
            </a:r>
            <a:endParaRPr lang="en-US" dirty="0"/>
          </a:p>
          <a:p>
            <a:pPr lvl="2"/>
            <a:r>
              <a:rPr lang="en-US" dirty="0">
                <a:sym typeface="+mn-ea"/>
              </a:rPr>
              <a:t>Third level</a:t>
            </a:r>
            <a:endParaRPr lang="en-US" dirty="0"/>
          </a:p>
          <a:p>
            <a:pPr lvl="3"/>
            <a:r>
              <a:rPr lang="en-US" dirty="0">
                <a:sym typeface="+mn-ea"/>
              </a:rPr>
              <a:t>Fourth level</a:t>
            </a:r>
            <a:endParaRPr lang="en-US" dirty="0"/>
          </a:p>
          <a:p>
            <a:pPr lvl="4"/>
            <a:r>
              <a:rPr lang="en-US" dirty="0">
                <a:sym typeface="+mn-ea"/>
              </a:rPr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dirty="0" smtClean="0"/>
              <a:t>Click to edit Master text styles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  <a:endParaRPr lang="en-US" dirty="0" smtClean="0"/>
          </a:p>
          <a:p>
            <a:pPr lvl="2"/>
            <a:r>
              <a:rPr lang="en-US" dirty="0" smtClean="0"/>
              <a:t>Third level</a:t>
            </a:r>
            <a:endParaRPr lang="en-US" dirty="0"/>
          </a:p>
          <a:p>
            <a:pPr lvl="3"/>
            <a:r>
              <a:rPr lang="en-US" dirty="0" smtClean="0"/>
              <a:t>Fourth level</a:t>
            </a:r>
            <a:endParaRPr lang="en-US" dirty="0"/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libri Light" panose="020F0302020204030204" pitchFamily="34" charset="0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 panose="020B0604020202020204" pitchFamily="34" charset="0"/>
        <a:buNone/>
        <a:defRPr sz="2800" b="0" kern="120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 Light" panose="020F03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effectLst/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Прямоугольник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12192000" cy="177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09600" y="1168400"/>
            <a:ext cx="10922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800" b="1">
                <a:solidFill>
                  <a:srgbClr val="192A56"/>
                </a:solidFill>
                <a:latin typeface="Aptos Display" charset="0"/>
                <a:cs typeface="Aptos Display" charset="0"/>
              </a:rPr>
              <a:t>HVAC Building Energy Management via Multi-Objective Deep Reinforcement Learning</a:t>
            </a:r>
            <a:endParaRPr lang="" altLang="en-US" sz="2800" b="1">
              <a:solidFill>
                <a:srgbClr val="192A56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660400" y="2667000"/>
            <a:ext cx="10541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>
                <a:solidFill>
                  <a:srgbClr val="444444"/>
                </a:solidFill>
                <a:latin typeface="Aptos" charset="0"/>
                <a:cs typeface="Aptos" charset="0"/>
              </a:rPr>
              <a:t>Project defense presentation based on defensePart1.pdf, defensePart2.pdf, MorlProjectFinalv3.pdf, and the latest validated results from the HVAC_DRL_MORL repository.</a:t>
            </a:r>
            <a:endParaRPr lang="" altLang="en-US">
              <a:solidFill>
                <a:srgbClr val="444444"/>
              </a:solidFill>
              <a:latin typeface="Aptos" charset="0"/>
              <a:cs typeface="Aptos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660400" y="4572000"/>
            <a:ext cx="6350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1500" b="1">
                <a:solidFill>
                  <a:srgbClr val="2C2C2C"/>
                </a:solidFill>
                <a:latin typeface="Aptos" charset="0"/>
                <a:cs typeface="Aptos" charset="0"/>
              </a:rPr>
              <a:t>Almaz Sapargali | DigitAlem LLP | Project IRN AP23488794</a:t>
            </a:r>
            <a:endParaRPr lang="" altLang="en-US" sz="1500" b="1">
              <a:solidFill>
                <a:srgbClr val="2C2C2C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60400" y="4978400"/>
            <a:ext cx="5080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1300">
                <a:solidFill>
                  <a:srgbClr val="5A5A5A"/>
                </a:solidFill>
                <a:latin typeface="Aptos" charset="0"/>
                <a:cs typeface="Aptos" charset="0"/>
              </a:rPr>
              <a:t>March 2026</a:t>
            </a:r>
            <a:endParaRPr lang="" altLang="en-US" sz="1300">
              <a:solidFill>
                <a:srgbClr val="5A5A5A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Executive Summary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800" y="11684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Phase 0 stabilized MORL-PPO and produced the first Pareto front with a reported 28% energy reduction.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Phase 1 introduced a physics-informed RC Neural ODE surrogate with 32,313x measured speedup and RMSE = 0.163 C in the report.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Phase 2 solved the inverse calibration problem and improved RMSE by 79%.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Phase 3 tested eleven MORL experiments, then the project continued with a direct-Tsup redesign that produced the strongest current comfort baseline.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Today the validated benchmark picture is: Standard PI = energy reference, Thermostatic PPO = comfort reference, HDRL = structured trade-off prototype.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685800" y="60198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1100">
                <a:solidFill>
                  <a:srgbClr val="6E6E6E"/>
                </a:solidFill>
                <a:latin typeface="Aptos" charset="0"/>
                <a:cs typeface="Aptos" charset="0"/>
              </a:rPr>
              <a:t>All yearly numbers in the current continuation are computed on 12 representative 336-hour scenario windows.</a:t>
            </a:r>
            <a:endParaRPr lang="" altLang="en-US" sz="1100">
              <a:solidFill>
                <a:srgbClr val="6E6E6E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Problem Statement and Research Question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800" y="11684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HVAC control is inherently multi-objective: comfort, energy, and safety must be balanced at the same time.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Purely model-based control is often accurate but can be computationally expensive or hard to adapt.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Purely model-free RL is flexible, but direct BOPTEST training is slow and sample-inefficient.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The core research question is whether a physics-informed and surrogate-accelerated RL pipeline can remain fast, accurate, and structurally safe enough for deployment-oriented control.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Research Roadmap: Phases 0 to 3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800" y="11684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Phase 0: MORL-PPO stabilization and reward/observation debugging.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Phase 1: RC Neural ODE surrogate for fast, differentiable rollouts.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Phase 2: inverse-problem calibration for physical fidelity.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Phase 3: structured controller experiments including reward shaping, GRU forecasts, shielding, SAC, HDRL, real weather, emergency heating, expanded action space, and direct Tsup control.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Reference Papers and Our Improvement: Wang + Liao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09600" y="1168400"/>
            <a:ext cx="495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1600" b="1">
                <a:solidFill>
                  <a:srgbClr val="20345F"/>
                </a:solidFill>
                <a:latin typeface="Aptos" charset="0"/>
                <a:cs typeface="Aptos" charset="0"/>
              </a:rPr>
              <a:t>Wang et al. (2025)</a:t>
            </a:r>
            <a:endParaRPr lang="" altLang="en-US" sz="1600" b="1">
              <a:solidFill>
                <a:srgbClr val="20345F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6248400" y="1168400"/>
            <a:ext cx="495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1600" b="1">
                <a:solidFill>
                  <a:srgbClr val="20345F"/>
                </a:solidFill>
                <a:latin typeface="Aptos" charset="0"/>
                <a:cs typeface="Aptos" charset="0"/>
              </a:rPr>
              <a:t>Liao et al. (2025)</a:t>
            </a:r>
            <a:endParaRPr lang="" altLang="en-US" sz="1600" b="1">
              <a:solidFill>
                <a:srgbClr val="20345F"/>
              </a:solidFill>
              <a:latin typeface="Aptos" charset="0"/>
              <a:cs typeface="Aptos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609600" y="1574800"/>
            <a:ext cx="495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Wang et al. (2025): safety metric m_s = r_time + r_sev and the idea of an external safety layer for DRL HVAC control.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Original limitation: MPC-based safety correction is accurate but too slow for edge deployment, around 2.67 s per decision in the report discussion.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Our improvement: replace heavy online MPC prediction with a Neural ODE surrogate and short-horizon surrogate filtering.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Resulting value: safety-aware architecture becomes computationally realistic for edge-oriented deployment.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248400" y="1574800"/>
            <a:ext cx="495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Liao et al. (2025): hierarchical DRL logic with mode specialization across operating regimes or seasons.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Original insight adopted: hierarchy helps because one flat policy is weak across all seasons.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Our improvement: add a third supervisory layer, Emergency Heating Mode, for hard interception under extreme cold.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This solved the winter crash regime that the learned hierarchy alone could not eliminate.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Reference Papers and Our Improvement: Gao + Hedayat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09600" y="1168400"/>
            <a:ext cx="495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1600" b="1">
                <a:solidFill>
                  <a:srgbClr val="20345F"/>
                </a:solidFill>
                <a:latin typeface="Aptos" charset="0"/>
                <a:cs typeface="Aptos" charset="0"/>
              </a:rPr>
              <a:t>Gao et al. (2024)</a:t>
            </a:r>
            <a:endParaRPr lang="" altLang="en-US" sz="1600" b="1">
              <a:solidFill>
                <a:srgbClr val="20345F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6248400" y="1168400"/>
            <a:ext cx="495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1600" b="1">
                <a:solidFill>
                  <a:srgbClr val="20345F"/>
                </a:solidFill>
                <a:latin typeface="Aptos" charset="0"/>
                <a:cs typeface="Aptos" charset="0"/>
              </a:rPr>
              <a:t>Hedayat et al. (2025)</a:t>
            </a:r>
            <a:endParaRPr lang="" altLang="en-US" sz="1600" b="1">
              <a:solidFill>
                <a:srgbClr val="20345F"/>
              </a:solidFill>
              <a:latin typeface="Aptos" charset="0"/>
              <a:cs typeface="Aptos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609600" y="1574800"/>
            <a:ext cx="495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Gao et al. (2024): thermostatic benchmark focused on holding a nominal indoor target around 22 C.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What we adopted: the idea of a one-objective comfort-tracking benchmark as an ablation study.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Our improvement: direct-Tsup Neural ODE surrogate reaches comparable order of accuracy with a much simpler forecast mechanism than 24 h GRU processing.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Current direct-Tsup thermostatic PPO result: mean RMSE22 = 0,970 C, with the strongest current repository-level comfort performance.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248400" y="1574800"/>
            <a:ext cx="495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Hedayat et al. (2025): low-level control and physically grounded HVAC learning.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What we adopted: physics-aware control design and movement toward lower-level actuation variables.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Our improvement: go beyond physical regularization and identify a structural interface gap caused by the built-in PI controller.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Breakthrough: switch from indirect setpoint control to direct supply-air temperature control and remove the internal PI bottleneck.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How This Work Extends the State of the Art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800" y="11684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Many SOTA papers report strong performance on narrow scenarios such as peak-cooling weeks or idealized comfort windows.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Our project adds three harder dimensions at the same time: computational speed, seasonal robustness, and diagnosis of control-interface mismatch.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Key repository-level strengths today: Neural ODE speed, physically calibrated surrogate, explicit 12-scenario seasonal validation, and honest controller benchmarking against Standard PI, Thermostatic PPO, and HDRL.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Main scientific message: the bottleneck was not only the RL algorithm; it was the control interface and the hidden PI layer inside BOPTEST.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685800" y="60198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1100">
                <a:solidFill>
                  <a:srgbClr val="6E6E6E"/>
                </a:solidFill>
                <a:latin typeface="Aptos" charset="0"/>
                <a:cs typeface="Aptos" charset="0"/>
              </a:rPr>
              <a:t>Q1 positioning: this is not only a better controller study, but also a systems-level diagnosis of why certain DRL pipelines fail.</a:t>
            </a:r>
            <a:endParaRPr lang="" altLang="en-US" sz="1100">
              <a:solidFill>
                <a:srgbClr val="6E6E6E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Phase 0: MORL-PPO Stabilization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800" y="11684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Objective: establish a working multi-objective PPO agent on BOPTEST with vector rewards for comfort and energy.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Problem P0.1: scale dominance in the scalarized reward; solution: rescale energy by 1/Pmax.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Problem P0.2: observation-space mismatch; solution: use Box[-1,1] consistently.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Result from the report: 28% energy reduction and a monotonic Pareto front across comfort-energy weights.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Phase 1: RC Neural ODE Surrogate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09600" y="1168400"/>
            <a:ext cx="495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1600" b="1">
                <a:solidFill>
                  <a:srgbClr val="20345F"/>
                </a:solidFill>
                <a:latin typeface="Aptos" charset="0"/>
                <a:cs typeface="Aptos" charset="0"/>
              </a:rPr>
              <a:t>Architecture</a:t>
            </a:r>
            <a:endParaRPr lang="" altLang="en-US" sz="1600" b="1">
              <a:solidFill>
                <a:srgbClr val="20345F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6248400" y="1168400"/>
            <a:ext cx="495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1600" b="1">
                <a:solidFill>
                  <a:srgbClr val="20345F"/>
                </a:solidFill>
                <a:latin typeface="Aptos" charset="0"/>
                <a:cs typeface="Aptos" charset="0"/>
              </a:rPr>
              <a:t>Key fixes</a:t>
            </a:r>
            <a:endParaRPr lang="" altLang="en-US" sz="1600" b="1">
              <a:solidFill>
                <a:srgbClr val="20345F"/>
              </a:solidFill>
              <a:latin typeface="Aptos" charset="0"/>
              <a:cs typeface="Aptos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609600" y="1574800"/>
            <a:ext cx="495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Physics-informed residual thermal update instead of direct absolute-temperature prediction.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Input features: Tzone, Tamb, hour/day cyclic terms, and action.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Two heads: delta-T head and total-power head.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Residual design prevents the network from canceling the HVAC signal.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248400" y="1574800"/>
            <a:ext cx="495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Problem P1.1: thermal capacitance too large; fixed by data-driven estimate.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Problem P1.2: parameter drift; fixed via register_buffer.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Problem P1.3: network canceled HVAC; fixed by direct delta-T residual formulation.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Phase 1 Results: Why the Surrogate Matters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800" y="11684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Measured speed benchmark from the report: BOPTEST 37.6 steps/s versus surrogate batch rollout 1,215,752 steps/s.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That corresponds to a 32,313x speedup and changes experiment time from tens of hours to minutes.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The report-level surrogate v2 result reached RMSE = 0.163 C with R2 = 0.991.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This surrogate became the computational foundation for PPO, HDRL, safety rollouts, and rapid ablations.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Phase 2: Inverse Calibration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800" y="11684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Objective: recover thermal parameters and improve physical consistency from telemetry.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Problem P2.1: latency collapsed the signal and made calibration ill-posed.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Problem P2.2: linear calibration was too weak; solution: joint fine-tuning of physical parameters and neural weights.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Result from the report: RMSE improved from 9.12 C to 1.91 C, a 79% reduction, with Czon recovered to 7.9% error.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Phase 3: Eleven MORL Experiments in the Report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800" y="11684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Experiment 1: PPO baseline with synthetic weather.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Experiment 2: reward shaping; failed and amplified sim-to-real mismatch.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Experiment 3: GRU weather forecast inspired by Gao et al.; partial improvement only.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Experiment 4: runtime shielding inspired by Xu et al.; expensive and inaccurate on BOPTEST.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Experiment 5: SAC; underperformed PPO.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Experiments 6-10: HDRL, real weather, emergency heating, expanded 5-feature state, and BOPTEST fine-tuning.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Experiment 11: direct Tsup control; this became the breakthrough that changed the control interface itself.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685800" y="60198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1100">
                <a:solidFill>
                  <a:srgbClr val="6E6E6E"/>
                </a:solidFill>
                <a:latin typeface="Aptos" charset="0"/>
                <a:cs typeface="Aptos" charset="0"/>
              </a:rPr>
              <a:t>Source: defensePart1.pdf complete report.</a:t>
            </a:r>
            <a:endParaRPr lang="" altLang="en-US" sz="1100">
              <a:solidFill>
                <a:srgbClr val="6E6E6E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Legacy Best Reported Phase 3 Result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800" y="11684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Best reported MORL/HDRL result before the current continuation: ms = 0.697 +- 0.368 over 12 monthly scenarios.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The strongest reported seasonal behavior was in summer, with ms around 0.140-0.187.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The report concluded that weather mismatch and extreme events were partly solved, but an action-response mismatch remained.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This is why the project did not stop at the report endpoint.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Thermostatic Ablation and Direct-Tsup Breakthrough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800" y="11684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The full report also contains a thermostatic ablation study against Gao et al.'s benchmark logic.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Key breakthrough in the report: moving from indirect thermostat-style control to direct supply-air control.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Reported improvement: mean RMSE reduced from 4.70 C to 0.84 C; winter RMSE reduced from 8.89 C to 0.78 C.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Interpretation in the report: the so-called structural gap was caused mainly by BOPTEST's internal PI layer, not by missing building physics.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Why Phase 3 Had to Continue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800" y="11684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The final report itself concluded that the remaining gap was structural.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Therefore the continuation focused on changing action semantics, not just tuning PPO longer.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The redesign goal was to unify surrogate training, RL training, and BOPTEST deployment under one physically meaningful interface.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That interface is direct Tsup plus direct fan control.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Current Direct-Tsup Pipeline in the Repository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800" y="11684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Data collection: data/collect_tsupply_data.py, 51,200 BOPTEST samples from 4 seasons x 4 policies.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Surrogate training: surrogate/train_surrogate_v2.py with multi-step loss and power prediction.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Comfort-first baseline: training/train_thermostatic.py.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Structured trade-off controller: training/train_hdrl.py.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Energy reference: evaluation/standard_controller_baseline.py.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Ongoing MORL and safety layer: main.py, evaluation/eval_safe_morl.py, and layers/safety/action_filter.py.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Current Standard PI Baseline: Validated Reference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800" y="11684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The built-in BOPTEST controller is now evaluated explicitly without any override signals.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Mean fixed-target comfort versus 22 C: RMSE22 = 3,41 C.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Mean fixed-band violation = 43,8% and mean fixed-band m_s = 0,695.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Total energy = 1230,2 kWh = 25,63 kWh/m2.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Interpretation: this is the low-energy reference, not the main comfort baseline.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Current Thermostatic PPO Baseline: Strongest Comfort Result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800" y="11684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Current mean RMSE22 = 0,970 C and mean MAE22 = 0,810 C.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Within +-1 C = 65,9% and within +-0.5 C = 35,1%.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Mean fixed-band violation = 23,5% and mean fixed-band m_s = 0,291.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Total energy = 3037,8 kWh = 63,29 kWh/m2.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Interpretation: this is currently the strongest validated comfort controller in the repository.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Current HDRL: Structured but Not Yet Dominant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800" y="11684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Two seasonal PPO experts trained on the direct-Tsup surrogate with a compact 5-feature state.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Mean RMSE22 = 1,363 C and mean fixed-band violation = 12,7%.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Mean fixed-band m_s = 0,307.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Total energy = 3070,2 kWh = 63,96 kWh/m2.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Interpretation: HDRL is operational and structured, but it does not yet beat the thermostatic PPO baseline on the full-year benchmark.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Visual Comparison: Three Validated Controllers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58800" y="1168400"/>
            <a:ext cx="4191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800"/>
              </a:spcAft>
            </a:pPr>
            <a:r>
              <a:rPr lang="" altLang="en-US" sz="1700">
                <a:solidFill>
                  <a:srgbClr val="282828"/>
                </a:solidFill>
                <a:latin typeface="Aptos" charset="0"/>
                <a:cs typeface="Aptos" charset="0"/>
              </a:rPr>
              <a:t>- Thermostatic PPO is best on fixed-target comfort metrics.</a:t>
            </a:r>
            <a:endParaRPr lang="" altLang="en-US" sz="17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700">
                <a:solidFill>
                  <a:srgbClr val="282828"/>
                </a:solidFill>
                <a:latin typeface="Aptos" charset="0"/>
                <a:cs typeface="Aptos" charset="0"/>
              </a:rPr>
              <a:t>- Standard PI is best on energy.</a:t>
            </a:r>
            <a:endParaRPr lang="" altLang="en-US" sz="17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700">
                <a:solidFill>
                  <a:srgbClr val="282828"/>
                </a:solidFill>
                <a:latin typeface="Aptos" charset="0"/>
                <a:cs typeface="Aptos" charset="0"/>
              </a:rPr>
              <a:t>- HDRL has lower fixed-band violation than Thermostatic PPO, but a worse RMSE22.</a:t>
            </a:r>
            <a:endParaRPr lang="" altLang="en-US" sz="17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700">
                <a:solidFill>
                  <a:srgbClr val="282828"/>
                </a:solidFill>
                <a:latin typeface="Aptos" charset="0"/>
                <a:cs typeface="Aptos" charset="0"/>
              </a:rPr>
              <a:t>- This confirms that the three controllers currently occupy different parts of the comfort-energy trade-off.</a:t>
            </a:r>
            <a:endParaRPr lang="" altLang="en-US" sz="1700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  <p:pic>
        <p:nvPicPr>
          <p:cNvPr id="5" name="Изображение 4" descr="comparison_dashboar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8400" y="1219200"/>
            <a:ext cx="6604000" cy="4445000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685800" y="60706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1100">
                <a:solidFill>
                  <a:srgbClr val="6E6E6E"/>
                </a:solidFill>
                <a:latin typeface="Aptos" charset="0"/>
                <a:cs typeface="Aptos" charset="0"/>
              </a:rPr>
              <a:t>Source: outputs/three_model_comparison/comparison_dashboard.png</a:t>
            </a:r>
            <a:endParaRPr lang="" altLang="en-US" sz="1100">
              <a:solidFill>
                <a:srgbClr val="6E6E6E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Monthly RMSE22 Comparison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58800" y="1168400"/>
            <a:ext cx="4191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800"/>
              </a:spcAft>
            </a:pPr>
            <a:r>
              <a:rPr lang="" altLang="en-US" sz="1700">
                <a:solidFill>
                  <a:srgbClr val="282828"/>
                </a:solidFill>
                <a:latin typeface="Aptos" charset="0"/>
                <a:cs typeface="Aptos" charset="0"/>
              </a:rPr>
              <a:t>- Thermostatic PPO stays consistently below the PI controller across all benchmark windows.</a:t>
            </a:r>
            <a:endParaRPr lang="" altLang="en-US" sz="17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700">
                <a:solidFill>
                  <a:srgbClr val="282828"/>
                </a:solidFill>
                <a:latin typeface="Aptos" charset="0"/>
                <a:cs typeface="Aptos" charset="0"/>
              </a:rPr>
              <a:t>- HDRL remains better than PI in most windows, but still trails Thermostatic PPO on target-tracking accuracy.</a:t>
            </a:r>
            <a:endParaRPr lang="" altLang="en-US" sz="17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700">
                <a:solidFill>
                  <a:srgbClr val="282828"/>
                </a:solidFill>
                <a:latin typeface="Aptos" charset="0"/>
                <a:cs typeface="Aptos" charset="0"/>
              </a:rPr>
              <a:t>- This figure makes the comfort hierarchy visually clear.</a:t>
            </a:r>
            <a:endParaRPr lang="" altLang="en-US" sz="1700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  <p:pic>
        <p:nvPicPr>
          <p:cNvPr id="5" name="Изображение 4" descr="comparison_monthly_rmse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8400" y="1219200"/>
            <a:ext cx="6604000" cy="4445000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685800" y="60706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1100">
                <a:solidFill>
                  <a:srgbClr val="6E6E6E"/>
                </a:solidFill>
                <a:latin typeface="Aptos" charset="0"/>
                <a:cs typeface="Aptos" charset="0"/>
              </a:rPr>
              <a:t>Source: outputs/three_model_comparison/comparison_monthly_rmse22.png</a:t>
            </a:r>
            <a:endParaRPr lang="" altLang="en-US" sz="1100">
              <a:solidFill>
                <a:srgbClr val="6E6E6E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Monthly Energy Comparison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58800" y="1168400"/>
            <a:ext cx="4191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800"/>
              </a:spcAft>
            </a:pPr>
            <a:r>
              <a:rPr lang="" altLang="en-US" sz="1700">
                <a:solidFill>
                  <a:srgbClr val="282828"/>
                </a:solidFill>
                <a:latin typeface="Aptos" charset="0"/>
                <a:cs typeface="Aptos" charset="0"/>
              </a:rPr>
              <a:t>- Standard PI remains far below the RL controllers in total energy.</a:t>
            </a:r>
            <a:endParaRPr lang="" altLang="en-US" sz="17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700">
                <a:solidFill>
                  <a:srgbClr val="282828"/>
                </a:solidFill>
                <a:latin typeface="Aptos" charset="0"/>
                <a:cs typeface="Aptos" charset="0"/>
              </a:rPr>
              <a:t>- HDRL occasionally improves over Thermostatic PPO in summer, but the annual gap remains small.</a:t>
            </a:r>
            <a:endParaRPr lang="" altLang="en-US" sz="17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700">
                <a:solidFill>
                  <a:srgbClr val="282828"/>
                </a:solidFill>
                <a:latin typeface="Aptos" charset="0"/>
                <a:cs typeface="Aptos" charset="0"/>
              </a:rPr>
              <a:t>- This figure shows why PI must be treated as the low-energy reference baseline.</a:t>
            </a:r>
            <a:endParaRPr lang="" altLang="en-US" sz="1700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  <p:pic>
        <p:nvPicPr>
          <p:cNvPr id="5" name="Изображение 4" descr="comparison_monthly_energ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8400" y="1219200"/>
            <a:ext cx="6604000" cy="4445000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685800" y="60706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1100">
                <a:solidFill>
                  <a:srgbClr val="6E6E6E"/>
                </a:solidFill>
                <a:latin typeface="Aptos" charset="0"/>
                <a:cs typeface="Aptos" charset="0"/>
              </a:rPr>
              <a:t>Source: outputs/three_model_comparison/comparison_monthly_energy.png</a:t>
            </a:r>
            <a:endParaRPr lang="" altLang="en-US" sz="1100">
              <a:solidFill>
                <a:srgbClr val="6E6E6E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Comfort-Energy Trade-off Scatter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58800" y="1168400"/>
            <a:ext cx="4191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800"/>
              </a:spcAft>
            </a:pPr>
            <a:r>
              <a:rPr lang="" altLang="en-US" sz="1700">
                <a:solidFill>
                  <a:srgbClr val="282828"/>
                </a:solidFill>
                <a:latin typeface="Aptos" charset="0"/>
                <a:cs typeface="Aptos" charset="0"/>
              </a:rPr>
              <a:t>- The annual trade-off is now easy to interpret in one plane.</a:t>
            </a:r>
            <a:endParaRPr lang="" altLang="en-US" sz="17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700">
                <a:solidFill>
                  <a:srgbClr val="282828"/>
                </a:solidFill>
                <a:latin typeface="Aptos" charset="0"/>
                <a:cs typeface="Aptos" charset="0"/>
              </a:rPr>
              <a:t>- Thermostatic PPO sits at the strongest comfort point.</a:t>
            </a:r>
            <a:endParaRPr lang="" altLang="en-US" sz="17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700">
                <a:solidFill>
                  <a:srgbClr val="282828"/>
                </a:solidFill>
                <a:latin typeface="Aptos" charset="0"/>
                <a:cs typeface="Aptos" charset="0"/>
              </a:rPr>
              <a:t>- Standard PI sits at the strongest energy point.</a:t>
            </a:r>
            <a:endParaRPr lang="" altLang="en-US" sz="17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700">
                <a:solidFill>
                  <a:srgbClr val="282828"/>
                </a:solidFill>
                <a:latin typeface="Aptos" charset="0"/>
                <a:cs typeface="Aptos" charset="0"/>
              </a:rPr>
              <a:t>- HDRL currently lands close to Thermostatic PPO in energy but worse in RMSE22, so it is not yet the winning trade-off controller.</a:t>
            </a:r>
            <a:endParaRPr lang="" altLang="en-US" sz="1700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  <p:pic>
        <p:nvPicPr>
          <p:cNvPr id="5" name="Изображение 4" descr="comparison_tradeoff_scat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8400" y="1219200"/>
            <a:ext cx="6604000" cy="4445000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685800" y="60706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1100">
                <a:solidFill>
                  <a:srgbClr val="6E6E6E"/>
                </a:solidFill>
                <a:latin typeface="Aptos" charset="0"/>
                <a:cs typeface="Aptos" charset="0"/>
              </a:rPr>
              <a:t>Source: outputs/three_model_comparison/comparison_tradeoff_scatter.png</a:t>
            </a:r>
            <a:endParaRPr lang="" altLang="en-US" sz="1100">
              <a:solidFill>
                <a:srgbClr val="6E6E6E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Machine-Generated Conclusion from the Current Comparison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800" y="11684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Best fixed-target comfort: Thermostatic PPO, mean RMSE22 = 0,970 C.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Best energy efficiency: Standard PI, total energy = 1230,2 kWh.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Best fixed-band violation among RL controllers: HDRL, but HDRL still has worse RMSE22 than Thermostatic PPO.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Annual status: HDRL does not yet beat Thermostatic PPO; its annual energy is about 1.1% higher.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Seasonal nuance: HDRL already reduces summer energy by about 4.3% relative to Thermostatic PPO.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685800" y="60198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1100">
                <a:solidFill>
                  <a:srgbClr val="6E6E6E"/>
                </a:solidFill>
                <a:latin typeface="Aptos" charset="0"/>
                <a:cs typeface="Aptos" charset="0"/>
              </a:rPr>
              <a:t>This slide is based on outputs/three_model_comparison/comparison_conclusion.txt.</a:t>
            </a:r>
            <a:endParaRPr lang="" altLang="en-US" sz="1100">
              <a:solidFill>
                <a:srgbClr val="6E6E6E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Why HDRL Still Trails the Thermostatic Baseline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800" y="11684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Thermostatic PPO is comfort-first and targets 22 C directly; HDRL optimizes comfort plus energy over the broader [21,25] C band.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Thermostatic PPO uses a rich 17-feature observation with forecast and history; HDRL uses only a compact 5-feature current state.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HDRL also relies on a hard ambient threshold for seasonal switching, which is too crude for shoulder seasons and mixed regimes.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Therefore the current HDRL is a promising structured controller, but not yet the best annual controller.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Implemented Ideas That Were Tested and Rejected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800" y="11684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GRU weather forecasting inspired by Gao et al.: implemented, but Experiment 3 increased mean m_s to 0.893 and suffered from forecast mismatch.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Runtime shielding inspired by Xu et al.: implemented, but Experiment 4 increased violations because shield quality depended too strongly on surrogate absolute accuracy.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SAC as an off-policy alternative: implemented, but it underperformed PPO and reached around m_s = 1.063 in the report.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Main lesson: not every SOTA ingredient survives contact with this simulator stack; several methods degraded performance because they amplified sim-to-real mismatch instead of reducing it.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685800" y="60198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1100">
                <a:solidFill>
                  <a:srgbClr val="6E6E6E"/>
                </a:solidFill>
                <a:latin typeface="Aptos" charset="0"/>
                <a:cs typeface="Aptos" charset="0"/>
              </a:rPr>
              <a:t>These negative results are scientifically useful and strengthen the novelty claim of the final architecture.</a:t>
            </a:r>
            <a:endParaRPr lang="" altLang="en-US" sz="1100">
              <a:solidFill>
                <a:srgbClr val="6E6E6E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MORL and Safety Layer: Current Honest Status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800" y="11684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MORL is already implemented in main.py and the surrogate-based safety filter is implemented in layers/safety/action_filter.py.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The safety filter rolls out the Neural ODE surrogate over a short horizon and replaces unsafe actions with a fallback controller.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After the direct-Tsup redesign, the main fully validated results are still Standard PI, Thermostatic PPO, and HDRL.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For the defense, MORL should be presented as architecturally ready and ongoing, not as the final quantitative headline.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Main Contributions vs Current Limitations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09600" y="1168400"/>
            <a:ext cx="495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1600" b="1">
                <a:solidFill>
                  <a:srgbClr val="20345F"/>
                </a:solidFill>
                <a:latin typeface="Aptos" charset="0"/>
                <a:cs typeface="Aptos" charset="0"/>
              </a:rPr>
              <a:t>Contributions</a:t>
            </a:r>
            <a:endParaRPr lang="" altLang="en-US" sz="1600" b="1">
              <a:solidFill>
                <a:srgbClr val="20345F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6248400" y="1168400"/>
            <a:ext cx="495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1600" b="1">
                <a:solidFill>
                  <a:srgbClr val="20345F"/>
                </a:solidFill>
                <a:latin typeface="Aptos" charset="0"/>
                <a:cs typeface="Aptos" charset="0"/>
              </a:rPr>
              <a:t>Limitations</a:t>
            </a:r>
            <a:endParaRPr lang="" altLang="en-US" sz="1600" b="1">
              <a:solidFill>
                <a:srgbClr val="20345F"/>
              </a:solidFill>
              <a:latin typeface="Aptos" charset="0"/>
              <a:cs typeface="Aptos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609600" y="1574800"/>
            <a:ext cx="495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Full pipeline from BOPTEST RL to surrogate-accelerated control.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Physics-informed RC Neural ODE with strong speed and accuracy.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Inverse calibration for physical fidelity.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Systematic Phase 3 experiment program with explicit problem-solution logging.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Direct-Tsup redesign that fixed the strongest control-interface mismatch.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6248400" y="1574800"/>
            <a:ext cx="495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HDRL still does not beat the comfort-first baseline on the annual trade-off.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PI remains much more energy-efficient because it solves a softer scheduled-comfort task.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MORL has not yet been fully re-evaluated on the direct-Tsup pipeline.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800"/>
              </a:spcAft>
            </a:pPr>
            <a:r>
              <a:rPr lang="" altLang="en-US" sz="1600">
                <a:solidFill>
                  <a:srgbClr val="282828"/>
                </a:solidFill>
                <a:latin typeface="Aptos" charset="0"/>
                <a:cs typeface="Aptos" charset="0"/>
              </a:rPr>
              <a:t>- The seasonal gate is still threshold-based rather than learned.</a:t>
            </a:r>
            <a:endParaRPr lang="" altLang="en-US" sz="1600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Next Steps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800" y="11684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Retrain MORL first on the direct-Tsup surrogate, then fine-tune on BOPTEST.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Replace the hard seasonal switch with a learned gate or at least hysteresis.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Give HDRL and MORL the same richer temporal context used by the Thermostatic PPO baseline.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Evaluate Safe MORL on the new pipeline and extend comfort metrics toward PMV/PPD and ASHRAE 55.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Prepare deployment-oriented validation for edge hardware and real-building sensor streams.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Final Defense Message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800" y="11684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Phase 0 stabilized the MORL formulation.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Phase 1 delivered the core computational breakthrough through a Neural ODE surrogate.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Phase 2 improved physical trustworthiness through inverse calibration.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Phase 3 identified the real structural bottleneck and led to the direct-Tsup redesign.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Today the strongest validated result is the direct-Tsup Thermostatic PPO baseline, while HDRL is a working but not yet dominant trade-off controller.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The repository is now technically ready for the final MORL step.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431800" y="228600"/>
            <a:ext cx="11303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2400" b="1">
                <a:solidFill>
                  <a:srgbClr val="20345F"/>
                </a:solidFill>
                <a:latin typeface="Aptos Display" charset="0"/>
                <a:cs typeface="Aptos Display" charset="0"/>
              </a:rPr>
              <a:t>Thank You</a:t>
            </a:r>
            <a:endParaRPr lang="" altLang="en-US" sz="2400" b="1">
              <a:solidFill>
                <a:srgbClr val="20345F"/>
              </a:solidFill>
              <a:latin typeface="Aptos Display" charset="0"/>
              <a:cs typeface="Aptos Display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431800" y="812800"/>
            <a:ext cx="11328400" cy="50800"/>
          </a:xfrm>
          <a:prstGeom prst="rect">
            <a:avLst/>
          </a:prstGeom>
          <a:solidFill>
            <a:srgbClr val="4E79A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685800" y="11684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Questions and discussion.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  <a:p>
            <a:pPr>
              <a:spcAft>
                <a:spcPts val="1000"/>
              </a:spcAft>
            </a:pPr>
            <a:r>
              <a:rPr lang="" altLang="en-US">
                <a:solidFill>
                  <a:srgbClr val="282828"/>
                </a:solidFill>
                <a:latin typeface="Aptos" charset="0"/>
                <a:cs typeface="Aptos" charset="0"/>
              </a:rPr>
              <a:t>- Backup material can be generated from the same repository: LaTeX defense deck, comparison plots, yearly summaries, and evaluation scripts.</a:t>
            </a:r>
            <a:endParaRPr lang="" altLang="en-US">
              <a:solidFill>
                <a:srgbClr val="282828"/>
              </a:solidFill>
              <a:latin typeface="Aptos" charset="0"/>
              <a:cs typeface="Aptos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685800" y="6019800"/>
            <a:ext cx="10795000" cy="368300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Autofit/>
          </a:bodyPr>
          <a:p>
            <a:r>
              <a:rPr lang="" altLang="en-US" sz="1100">
                <a:solidFill>
                  <a:srgbClr val="6E6E6E"/>
                </a:solidFill>
                <a:latin typeface="Aptos" charset="0"/>
                <a:cs typeface="Aptos" charset="0"/>
              </a:rPr>
              <a:t>Files created in this repo: docs/project_defense_presentation.tex and docs/HVAC_DRL_MORL_defense.pptx</a:t>
            </a:r>
            <a:endParaRPr lang="" altLang="en-US" sz="1100">
              <a:solidFill>
                <a:srgbClr val="6E6E6E"/>
              </a:solidFill>
              <a:latin typeface="Aptos" charset="0"/>
              <a:cs typeface="Aptos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16129</Words>
  <Application>WPS Presentation</Application>
  <PresentationFormat>宽屏</PresentationFormat>
  <Paragraphs>283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3" baseType="lpstr">
      <vt:lpstr>Arial</vt:lpstr>
      <vt:lpstr>SimSun</vt:lpstr>
      <vt:lpstr>Wingdings</vt:lpstr>
      <vt:lpstr>Calibri Light</vt:lpstr>
      <vt:lpstr>Arial Unicode MS</vt:lpstr>
      <vt:lpstr>Microsoft YaHei</vt:lpstr>
      <vt:lpstr>Calibri</vt:lpstr>
      <vt:lpstr>Aptos Display</vt:lpstr>
      <vt:lpstr>Segoe UI Variable Display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Алмаз Сапаргали</cp:lastModifiedBy>
  <cp:revision>4</cp:revision>
  <dcterms:created xsi:type="dcterms:W3CDTF">2025-07-23T00:59:00Z</dcterms:created>
  <dcterms:modified xsi:type="dcterms:W3CDTF">2026-03-30T09:36:59Z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FB544DF04EB4420585BC8009FA74B0A8_11</vt:lpwstr>
  </property>
</Properties>
</file>