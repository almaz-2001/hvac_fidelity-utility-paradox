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66E"/>
    <a:srgbClr val="D97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20" d="100"/>
          <a:sy n="120" d="100"/>
        </p:scale>
        <p:origin x="19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56000-C5F8-491F-9D87-B0579DF622A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0E5EF-5B4A-4895-829B-BD493B0BC93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1004" y="993199"/>
            <a:ext cx="10833741" cy="5426075"/>
          </a:xfrm>
        </p:spPr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Corrected Legacy Sinergym Branch for HVAC MORL</a:t>
            </a:r>
            <a:endParaRPr lang="en-US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89000" y="2286000"/>
            <a:ext cx="990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From legacy thesis reproduction to competitive PPO control
Theme: multi-objective HVAC control in Sinergym with corrected observation semantics, valid action parameterization, gaussian MORL reward, and RBC-guided BC warm-start.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9000" y="4826000"/>
            <a:ext cx="990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Based on: ArticleRus legacy Sinergym branch
Presentation generated from the Inverse_PINN template style.</a:t>
            </a: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Motivation and Problem Statement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/>
              <a:t>Goal: rebuild the thesis-era Sinergym HVAC controller and push PPO beyond rule-based control (RBC) on the comfort-energy trade-off.
Observed legacy problems before correction:
- wrong temperature channel used in reward/evaluation
- invalid direct setpoint action semantics
- Pareto collapse across weights
- article-style figures were not fully tied to live CSV outputs
Main engineering task: convert the branch into an honest, live, reproducible evaluation pipeline.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Thesis Targets vs Current Honest Live Status</a:t>
            </a:r>
            <a:endParaRPr lang="en-US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ий 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6" name="Замещающее содержимое 5"/>
          <p:cNvSpPr>
            <a:spLocks noGrp="1"/>
          </p:cNvSpPr>
          <p:nvPr>
            <p:ph sz="quarter" idx="4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98500" y="1206500"/>
            <a:ext cx="495300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200" b="1">
                <a:latin typeface="Calibri" panose="020F0502020204030204" charset="0"/>
                <a:cs typeface="Calibri" panose="020F0502020204030204" charset="0"/>
              </a:rPr>
              <a:t>Thesis target values
Mean HVAC power:
410-420 W
Mean comfort penalty:
~1.8
95th percentile comfort penalty:
~0.42
Narrative target:
PPO better than baseline strategies with smoother thermal dynamics.</a:t>
            </a:r>
            <a:endParaRPr lang="en-US" altLang="en-US" sz="22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350000" y="1206500"/>
            <a:ext cx="495300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200" b="1">
                <a:latin typeface="Calibri" panose="020F0502020204030204" charset="0"/>
                <a:cs typeface="Calibri" panose="020F0502020204030204" charset="0"/>
              </a:rPr>
              <a:t>Current corrected live result
PPO power: 499.8 W
RBC power: 518.24 W
PPO comfort: 11
RBC comfort: 10.94
PPO in-band: 41%
RBC in-band: 59%
Conclusion:
PPO is already better on energy, but not yet better on comfort.</a:t>
            </a:r>
            <a:endParaRPr lang="en-US" altLang="en-US" sz="2200" b="1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Core Idea Implemented in sinergym_backend.py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08000" y="1206500"/>
            <a:ext cx="5080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Key architectural decisions:
- name-based lookup for physical variables
- MORL scalarization: comfort + energy
- valid-by-construction action parameterization
- ActionRateLimit + ActionSafety wrappers
- logging of raw / limited / physical actions
- reward vector export for live evaluation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969000" y="1333500"/>
            <a:ext cx="5207000" cy="189166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t">
            <a:spAutoFit/>
          </a:bodyPr>
          <a:p>
            <a:r>
              <a:rPr lang="en-US" altLang="en-US" sz="1300">
                <a:latin typeface="Consolas" panose="020B0609020204030204" charset="0"/>
                <a:cs typeface="Consolas" panose="020B0609020204030204" charset="0"/>
              </a:rPr>
              <a:t>temp_name = "Zone Air Temperature(SPACE1-1)"
energy_name = "Facility Total HVAC Electricity
Demand Rate(Whole Building)"
reward = MORLReward(
    temp_low=20.0,
    temp_high=26.0,
    weights=MORLWeights(comfort=0.9, energy=0.1),
)</a:t>
            </a:r>
            <a:endParaRPr lang="en-US" altLang="en-US" sz="13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969000" y="4254500"/>
            <a:ext cx="5207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This backend is the central idea of the presentation: instead of claiming gains from a broken legacy setup, we corrected the environment semantics first and optimized PPO only after that.</a:t>
            </a: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Corrected Observation and Action Semantics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08000" y="1206500"/>
            <a:ext cx="508000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Resolved observation channels:
obs[10] = heating setpoint
obs[11] = cooling setpoint
obs[12] = zone air temperature
obs[13] = zone humidity
obs[16] = HVAC electricity demand rate
This eliminated the false comfort gains caused by using setpoints instead of the real zone temperature.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969000" y="1270000"/>
            <a:ext cx="5207000" cy="149161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t">
            <a:spAutoFit/>
          </a:bodyPr>
          <a:p>
            <a:r>
              <a:rPr lang="en-US" altLang="en-US" sz="1300">
                <a:latin typeface="Consolas" panose="020B0609020204030204" charset="0"/>
                <a:cs typeface="Consolas" panose="020B0609020204030204" charset="0"/>
              </a:rPr>
              <a:t>action_parameterization: "midpoint_gap"
normalize_action: true
rate_limit: true
deadband: 0.5
obs[12] -&gt; Zone Air Temperature
obs[16] -&gt; HVAC Power</a:t>
            </a:r>
            <a:endParaRPr lang="en-US" altLang="en-US" sz="13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969000" y="4127500"/>
            <a:ext cx="5207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The new midpoint-gap parameterization reduced invalid actions and made PPO learn on actions that are much closer to what the environment actually executes.</a:t>
            </a: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MORL Reward Shaping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08000" y="1206500"/>
            <a:ext cx="5080000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Reward families tested:
- linear
- exponential
- gaussian
- cubic
Best current reward family:
- gaussian
- comfort weight 0.9
- energy weight 0.1
- sigma 1.0
- offset 0.2
- target temperature 22 C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969000" y="1270000"/>
            <a:ext cx="5207000" cy="12915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t">
            <a:spAutoFit/>
          </a:bodyPr>
          <a:p>
            <a:r>
              <a:rPr lang="en-US" altLang="en-US" sz="1300">
                <a:latin typeface="Consolas" panose="020B0609020204030204" charset="0"/>
                <a:cs typeface="Consolas" panose="020B0609020204030204" charset="0"/>
              </a:rPr>
              <a:t>scalar = w_comfort * r_comfort +
         w_energy * (r_energy + r_control)
score = gaussian_peak *
        exp(-0.5 * (deviation / sigma)^2)
        - gaussian_offset</a:t>
            </a:r>
            <a:endParaRPr lang="en-US" altLang="en-US" sz="13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969000" y="3873500"/>
            <a:ext cx="5207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Gaussian reward gave the best compromise in our corrected setup. Exponential reward improved after BC warm-start, but still did not beat the gaussian baseline.</a:t>
            </a: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RBC to Behavior-Cloning Warm-Start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08000" y="1206500"/>
            <a:ext cx="508000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Calibri" panose="020F0502020204030204" charset="0"/>
                <a:cs typeface="Calibri" panose="020F0502020204030204" charset="0"/>
              </a:rPr>
              <a:t>Why BC warm-start was necessary:
- PPO from scratch often collapsed into cold / high-power regimes
- RBC demonstrations anchor PPO in a safe thermal region
- fine-tuning then optimizes energy around that stable comfort regime
Observed effect:
- in-band rose from near-failure levels to meaningful control occupancy</a:t>
            </a:r>
            <a:endParaRPr lang="en-US" altLang="en-US" sz="20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969000" y="1333500"/>
            <a:ext cx="5207000" cy="1691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t">
            <a:spAutoFit/>
          </a:bodyPr>
          <a:p>
            <a:r>
              <a:rPr lang="en-US" altLang="en-US" sz="1300">
                <a:latin typeface="Consolas" panose="020B0609020204030204" charset="0"/>
                <a:cs typeface="Consolas" panose="020B0609020204030204" charset="0"/>
              </a:rPr>
              <a:t>maybe_run_rbc_warmstart(
    model,
    env_factory=EnvFactory,
    env_cfg=env_cfg,
    warm_cfg=train_cfg["bc_warmstart"],
    seed=seed,
    out_dir=out_dir,
)</a:t>
            </a:r>
            <a:endParaRPr lang="en-US" altLang="en-US" sz="13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969000" y="3429000"/>
            <a:ext cx="520700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Current best BC summary:
- dataset size: 20,000
- epochs: 40
- final BC loss: 0.1119
BC solved the cold-start failure mode. The remaining gap to RBC is now a fine optimization problem, not a broken-training problem.</a:t>
            </a: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Experimental Protocol and Evaluation Metrics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000"/>
              <a:t>Environment:
- Eplus-5Zone-hot-continuous-v1
- corrected Zone Air Temperature channel
- midpoint-gap action parameterization
Policies compared:
- PPO
- Rule-based
- Random
- Zero-hold
Metrics:
- mean HVAC power (W)
- mean comfort penalty
- 95th percentile comfort penalty
- in-band occupancy
- representative temperature and power trajectories</a:t>
            </a:r>
            <a:endParaRPr lang="en-US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Live Baseline Comparison</a:t>
            </a:r>
            <a:endParaRPr lang="en-US" altLang="en-US"/>
          </a:p>
        </p:txBody>
      </p:sp>
      <p:pic>
        <p:nvPicPr>
          <p:cNvPr id="3" name="Изображение 2" descr="live_fig1_baseline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1016000"/>
            <a:ext cx="11430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Representative PPO vs RBC Trajectories</a:t>
            </a:r>
            <a:endParaRPr lang="en-US" altLang="en-US"/>
          </a:p>
        </p:txBody>
      </p:sp>
      <p:pic>
        <p:nvPicPr>
          <p:cNvPr id="3" name="Изображение 2" descr="live_fig2_representative_trajectori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1016000"/>
            <a:ext cx="11430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Surrogate v3 vs BOPTEST on Comfort-Oriented Traces</a:t>
            </a:r>
            <a:endParaRPr lang="en-US" altLang="en-US"/>
          </a:p>
        </p:txBody>
      </p:sp>
      <p:pic>
        <p:nvPicPr>
          <p:cNvPr id="3" name="Изображение 2" descr="surrogate_v3_vs_boptest_yearl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1016000"/>
            <a:ext cx="11430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Surrogate Parity Against BOPTEST</a:t>
            </a:r>
            <a:endParaRPr lang="en-US" altLang="en-US"/>
          </a:p>
        </p:txBody>
      </p:sp>
      <p:pic>
        <p:nvPicPr>
          <p:cNvPr id="3" name="Изображение 2" descr="surrogate_v3_vs_boptest_pari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1016000"/>
            <a:ext cx="11430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Current Best Result vs Thesis Benchmark</a:t>
            </a:r>
            <a:endParaRPr lang="en-US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ий 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6" name="Замещающее содержимое 5"/>
          <p:cNvSpPr>
            <a:spLocks noGrp="1"/>
          </p:cNvSpPr>
          <p:nvPr>
            <p:ph sz="quarter" idx="4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71500" y="1206500"/>
            <a:ext cx="520700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latin typeface="Calibri" panose="020F0502020204030204" charset="0"/>
                <a:cs typeface="Calibri" panose="020F0502020204030204" charset="0"/>
              </a:rPr>
              <a:t>Current best PPO
Mean HVAC power: 499,8 W
Mean comfort penalty: 11
95th percentile comfort penalty: 89,14
In-band: 41%
Strength:
Lower energy than RBC
Current limitation:
Comfort is still slightly worse than RBC.</a:t>
            </a:r>
            <a:endParaRPr lang="en-US" altLang="en-US" sz="20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159500" y="1206500"/>
            <a:ext cx="520700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latin typeface="Calibri" panose="020F0502020204030204" charset="0"/>
                <a:cs typeface="Calibri" panose="020F0502020204030204" charset="0"/>
              </a:rPr>
              <a:t>Surrogate validation
Thermostatic PPO:
RMSE 1,59 C
MAE 1,35 C
Bias +1 C
HDRL:
RMSE 1,89 C
MAE 1,59 C
Bias +1,21 C</a:t>
            </a:r>
            <a:endParaRPr lang="en-US" altLang="en-US" sz="2000" b="1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Conclusions and Next Steps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/>
              <a:t>Main achievements:
- rebuilt the legacy Sinergym branch into an honest live evaluation pipeline
- fixed observation and action semantics
- established gaussian MORL reward as the best reward family
- BC warm-start made PPO competitive with RBC
Current status:
- PPO already beats RBC on energy
- PPO is close to RBC on comfort, but not yet better
Immediate next step:
- small sweep over BC intensity and PPO learning rate within the current gaussian setup to push PPO past RBC on both axes.</a:t>
            </a:r>
            <a:endParaRPr lang="en-US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5417</Words>
  <Application>WPS Presentation</Application>
  <PresentationFormat>Custom</PresentationFormat>
  <Paragraphs>70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SimSun</vt:lpstr>
      <vt:lpstr>Wingdings</vt:lpstr>
      <vt:lpstr>Arial</vt:lpstr>
      <vt:lpstr>Times New Roman</vt:lpstr>
      <vt:lpstr>MS Mincho</vt:lpstr>
      <vt:lpstr>Yu Gothic UI</vt:lpstr>
      <vt:lpstr>Georgia</vt:lpstr>
      <vt:lpstr>Grandview Display</vt:lpstr>
      <vt:lpstr>Segoe Print</vt:lpstr>
      <vt:lpstr>Cambria Math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Алмаз Сапаргали</cp:lastModifiedBy>
  <cp:revision>16</cp:revision>
  <dcterms:created xsi:type="dcterms:W3CDTF">2013-01-27T09:14:00Z</dcterms:created>
  <dcterms:modified xsi:type="dcterms:W3CDTF">2026-04-05T08:25:41Z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8D502C644FCB4195961F9C1635496170_13</vt:lpwstr>
  </property>
  <property fmtid="{D5CDD505-2E9C-101B-9397-08002B2CF9AE}" pid="3" name="KSOProductBuildVer">
    <vt:lpwstr>1049-12.2.0.23196</vt:lpwstr>
  </property>
</Properties>
</file>