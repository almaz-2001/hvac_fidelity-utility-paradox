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1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2" r:id="rId24"/>
    <p:sldId id="280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66E"/>
    <a:srgbClr val="D97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56000-C5F8-491F-9D87-B0579DF622A0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0E5EF-5B4A-4895-829B-BD493B0B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7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0E5EF-5B4A-4895-829B-BD493B0BC9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56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0E5EF-5B4A-4895-829B-BD493B0BC9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80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0E5EF-5B4A-4895-829B-BD493B0BC9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55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A01EE-B7B9-4D18-97C7-99C58A3F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04" y="993199"/>
            <a:ext cx="10833741" cy="5426075"/>
          </a:xfrm>
        </p:spPr>
        <p:txBody>
          <a:bodyPr>
            <a:normAutofit/>
          </a:bodyPr>
          <a:lstStyle>
            <a:lvl1pPr>
              <a:defRPr sz="3599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1358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samsondawitb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D7F19-3839-4978-B127-566F67EC5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4612" y="2604198"/>
            <a:ext cx="9839593" cy="680089"/>
          </a:xfrm>
        </p:spPr>
        <p:txBody>
          <a:bodyPr>
            <a:noAutofit/>
          </a:bodyPr>
          <a:lstStyle/>
          <a:p>
            <a:r>
              <a:rPr lang="en-US" sz="3599" dirty="0">
                <a:latin typeface="Times New Roman" panose="02020603050405020304" pitchFamily="18" charset="0"/>
                <a:ea typeface="MS Mincho" panose="02020609040205080304" pitchFamily="49" charset="-128"/>
              </a:rPr>
              <a:t>Viscosity Ratio Identification in the Buckley-Leverett Model Using PINN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722712-6A1A-46FB-A1EA-E95BCFF10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598" y="3887554"/>
            <a:ext cx="9141619" cy="1655331"/>
          </a:xfrm>
        </p:spPr>
        <p:txBody>
          <a:bodyPr>
            <a:normAutofit/>
          </a:bodyPr>
          <a:lstStyle/>
          <a:p>
            <a:r>
              <a:rPr lang="en-US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Samson Dawit Bekele, Timur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Imankulov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Yerzhan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Kenzhebek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 Al-Farabi Kazakh National University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BA852D65-E760-A10F-3961-7DA6DD1C6C88}"/>
              </a:ext>
            </a:extLst>
          </p:cNvPr>
          <p:cNvSpPr txBox="1">
            <a:spLocks/>
          </p:cNvSpPr>
          <p:nvPr/>
        </p:nvSpPr>
        <p:spPr>
          <a:xfrm>
            <a:off x="2737505" y="4819017"/>
            <a:ext cx="6713810" cy="841788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Samson Dawit Bekele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samsondawitb@gmail.com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8" descr="Изображение выглядит как текст, эмблема, символ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2DF76CB8-1CE4-24ED-3638-DCB51B0AB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20" y="174203"/>
            <a:ext cx="1088731" cy="12183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6CB697-DC0D-2596-1A1F-93A402A8C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6269" y="245904"/>
            <a:ext cx="3175509" cy="10749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A31D67-7472-82A0-5818-300E47159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319" y="5661957"/>
            <a:ext cx="1484179" cy="782992"/>
          </a:xfrm>
          <a:prstGeom prst="rect">
            <a:avLst/>
          </a:prstGeom>
        </p:spPr>
      </p:pic>
      <p:sp>
        <p:nvSpPr>
          <p:cNvPr id="14" name="Нижний колонтитул 3">
            <a:extLst>
              <a:ext uri="{FF2B5EF4-FFF2-40B4-BE49-F238E27FC236}">
                <a16:creationId xmlns:a16="http://schemas.microsoft.com/office/drawing/2014/main" id="{2321A5A5-92B7-C866-02E0-C314BE84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05969" y="6520210"/>
            <a:ext cx="9376880" cy="365030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First Congress of Mathematicians of Kazakhstan, Shymkent, Kazakhstan. April 3-7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102A67-EB70-407E-1F83-6539FDD95E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567" y="71133"/>
            <a:ext cx="2228284" cy="142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17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Motivation and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2551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8271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F766E"/>
                </a:solidFill>
                <a:latin typeface="Georgia"/>
              </a:rPr>
              <a:t>Why Parameter Identification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1463"/>
            <a:ext cx="3794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1263759"/>
            <a:ext cx="3630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The Challenge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93192" y="1629519"/>
                <a:ext cx="363016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Fluid parameters like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m:rPr>
                        <m:lit/>
                      </m:rP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i="0" dirty="0">
                    <a:solidFill>
                      <a:srgbClr val="1C2331"/>
                    </a:solidFill>
                    <a:latin typeface="Grandview Display"/>
                  </a:rPr>
                  <a:t> </a:t>
                </a:r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govern saturation front propagation but cannot be measured directly in underground reservoirs.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29519"/>
                <a:ext cx="3630168" cy="1077218"/>
              </a:xfrm>
              <a:prstGeom prst="rect">
                <a:avLst/>
              </a:prstGeom>
              <a:blipFill>
                <a:blip r:embed="rId3"/>
                <a:stretch>
                  <a:fillRect l="-1008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251959" y="1181463"/>
            <a:ext cx="3794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1" y="1263759"/>
            <a:ext cx="3630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Traditional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1629519"/>
            <a:ext cx="36301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History matching: iterative PDE-solver inversion. Expensive (100s of runs), mesh-dependent, struggles near discontinuities.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181463"/>
            <a:ext cx="3794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0" y="1263759"/>
            <a:ext cx="3630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Our Approach: Inverse PINN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348470" y="1629519"/>
                <a:ext cx="363016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Learn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 err="1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 err="1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dirty="0" err="1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0" i="0" dirty="0">
                    <a:solidFill>
                      <a:srgbClr val="1C2331"/>
                    </a:solidFill>
                    <a:latin typeface="Grandview Display"/>
                  </a:rPr>
                  <a:t> </a:t>
                </a:r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simultaneously from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sparse, noisy observations. One training run, no mesh, physics constraints built in.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470" y="1629519"/>
                <a:ext cx="3630168" cy="1077218"/>
              </a:xfrm>
              <a:prstGeom prst="rect">
                <a:avLst/>
              </a:prstGeom>
              <a:blipFill>
                <a:blip r:embed="rId4"/>
                <a:stretch>
                  <a:fillRect l="-839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274320" y="3043077"/>
            <a:ext cx="11521440" cy="274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" y="3255264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97706"/>
                </a:solidFill>
                <a:latin typeface="Georgia"/>
              </a:rPr>
              <a:t>Application Areas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57600"/>
            <a:ext cx="56235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3739896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97706"/>
                </a:solidFill>
                <a:latin typeface="Georgia"/>
              </a:rPr>
              <a:t>Enhanced Oil Recovery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93192" y="4105656"/>
                <a:ext cx="545896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Water-flooding and polymer flooding.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controls sweep efficiency and breakthrough time. Inaccurate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leads to poor production forecasts.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05656"/>
                <a:ext cx="5458968" cy="830997"/>
              </a:xfrm>
              <a:prstGeom prst="rect">
                <a:avLst/>
              </a:prstGeom>
              <a:blipFill>
                <a:blip r:embed="rId5"/>
                <a:stretch>
                  <a:fillRect l="-670" t="-2206" b="-8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6217920" y="3657600"/>
            <a:ext cx="56235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336792" y="3739896"/>
                <a:ext cx="545896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D97706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1600" b="1" i="1" dirty="0" smtClean="0">
                            <a:solidFill>
                              <a:srgbClr val="D9770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D97706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D9770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sz="1600" b="1" i="0" dirty="0">
                    <a:solidFill>
                      <a:srgbClr val="D97706"/>
                    </a:solidFill>
                    <a:latin typeface="Georgia"/>
                  </a:rPr>
                  <a:t> Geological Storage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792" y="3739896"/>
                <a:ext cx="5458968" cy="347472"/>
              </a:xfrm>
              <a:prstGeom prst="rect">
                <a:avLst/>
              </a:prstGeom>
              <a:blipFill>
                <a:blip r:embed="rId6"/>
                <a:stretch>
                  <a:fillRect t="-5263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336792" y="4105656"/>
            <a:ext cx="54589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Supercritical CO2 displaces brine in aquifers. Leakage risk depends on mobility ratio. BL is a standard screening model.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120640"/>
            <a:ext cx="56235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3192" y="5202936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97706"/>
                </a:solidFill>
                <a:latin typeface="Georgia"/>
              </a:rPr>
              <a:t>Geothermal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93192" y="5568696"/>
                <a:ext cx="545896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Steam-water two-phase flow. Temperature-dependent viscosities make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estimation essential for heat extraction.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568696"/>
                <a:ext cx="5458968" cy="584775"/>
              </a:xfrm>
              <a:prstGeom prst="rect">
                <a:avLst/>
              </a:prstGeom>
              <a:blipFill>
                <a:blip r:embed="rId7"/>
                <a:stretch>
                  <a:fillRect l="-670" t="-3158" b="-1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6217920" y="5120640"/>
            <a:ext cx="56235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5202936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97706"/>
                </a:solidFill>
                <a:latin typeface="Georgia"/>
              </a:rPr>
              <a:t>Hydrogen Underground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5568696"/>
            <a:ext cx="54589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Emerging application. H2/brine mobility ratios are uncertain. PINN-based inversion enables rapid real-time calibration.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The Buckley-Leverett Forward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692" y="50042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4748B"/>
                </a:solidFill>
                <a:latin typeface="Grandview Display"/>
              </a:rPr>
              <a:t>Hyperbolic conservation law for two-phase incompressible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5961" y="4734149"/>
            <a:ext cx="52962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Georgia"/>
              </a:rPr>
              <a:t>Governing PDE (with viscous regularization):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68841" y="5163916"/>
                <a:ext cx="4846320" cy="384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</m:e>
                        <m:sub>
                          <m:r>
                            <a:rPr lang="ar-AE" sz="1900" b="1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ar-AE" sz="1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ar-AE" sz="1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900" b="1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</m:e>
                        <m:sub>
                          <m:r>
                            <a:rPr lang="ar-AE" sz="1900" b="1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ar-AE" sz="1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ar-AE" sz="1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ar-AE" sz="1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ar-AE" sz="1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  <m:r>
                        <a:rPr lang="ar-AE" sz="1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m:rPr>
                          <m:lit/>
                        </m:rPr>
                        <a:rPr lang="ar-AE" sz="1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</m:e>
                        <m:sub>
                          <m:r>
                            <a:rPr lang="ar-AE" sz="1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𝒙𝒙</m:t>
                          </m:r>
                        </m:sub>
                      </m:sSub>
                      <m:r>
                        <a:rPr lang="ar-AE" sz="19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ar-AE" sz="1900" b="1" i="0" dirty="0">
                  <a:solidFill>
                    <a:schemeClr val="tx1"/>
                  </a:solidFill>
                  <a:latin typeface="Georgia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41" y="5163916"/>
                <a:ext cx="4846320" cy="384721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68841" y="5739988"/>
                <a:ext cx="4846320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ar-AE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d>
                    <m:r>
                      <a:rPr lang="ar-AE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m:rPr>
                        <m:lit/>
                      </m:rPr>
                      <a:rPr lang="ar-AE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 </m:t>
                    </m:r>
                    <m:sSup>
                      <m:sSupPr>
                        <m:ctrlP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16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ar-AE" sz="16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16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d>
                      </m:e>
                      <m:sup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m:rPr>
                        <m:lit/>
                      </m:rPr>
                      <a:rPr lang="ar-AE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ar-AE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1600" b="1" i="0" dirty="0">
                    <a:solidFill>
                      <a:schemeClr val="tx1"/>
                    </a:solidFill>
                    <a:latin typeface="Grandview Display"/>
                  </a:rPr>
                  <a:t>
</a:t>
                </a:r>
                <a14:m>
                  <m:oMath xmlns:m="http://schemas.openxmlformats.org/officeDocument/2006/math">
                    <m:r>
                      <a:rPr lang="ar-AE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ar-AE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ar-AE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𝟎𝟎𝟑𝟓</m:t>
                    </m:r>
                  </m:oMath>
                </a14:m>
                <a:r>
                  <a:rPr lang="ar-AE" sz="1600" b="1" i="0" dirty="0">
                    <a:solidFill>
                      <a:schemeClr val="tx1"/>
                    </a:solidFill>
                    <a:latin typeface="Grandview Display"/>
                  </a:rPr>
                  <a:t> </a:t>
                </a:r>
                <a:r>
                  <a:rPr lang="en-US" sz="1600" b="1" dirty="0">
                    <a:latin typeface="Grandview Display"/>
                  </a:rPr>
                  <a:t>(</a:t>
                </a:r>
                <a:r>
                  <a:rPr lang="en-US" sz="1600" b="1" i="0" dirty="0">
                    <a:solidFill>
                      <a:schemeClr val="tx1"/>
                    </a:solidFill>
                    <a:latin typeface="Grandview Display"/>
                  </a:rPr>
                  <a:t>vanishing viscosity, annealed to 0)
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ar-AE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ar-AE" sz="16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600" b="1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ar-AE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ar-AE" sz="1600" b="1" i="0" dirty="0">
                    <a:solidFill>
                      <a:schemeClr val="tx1"/>
                    </a:solidFill>
                    <a:latin typeface="Grandview Display"/>
                  </a:rPr>
                  <a:t> - </a:t>
                </a:r>
                <a:r>
                  <a:rPr lang="en-US" sz="1600" b="1" i="0" dirty="0">
                    <a:solidFill>
                      <a:schemeClr val="tx1"/>
                    </a:solidFill>
                    <a:latin typeface="Grandview Display"/>
                  </a:rPr>
                  <a:t>water saturation field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41" y="5739988"/>
                <a:ext cx="4846320" cy="1077218"/>
              </a:xfrm>
              <a:prstGeom prst="rect">
                <a:avLst/>
              </a:prstGeom>
              <a:blipFill>
                <a:blip r:embed="rId4"/>
                <a:stretch>
                  <a:fillRect b="-7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65078" y="5116068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Georgia"/>
              </a:rPr>
              <a:t>Initial and Boundary Conditions: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65078" y="5481827"/>
                <a:ext cx="484632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i="0" dirty="0">
                    <a:solidFill>
                      <a:schemeClr val="tx1"/>
                    </a:solidFill>
                    <a:latin typeface="Grandview Display"/>
                  </a:rPr>
                  <a:t>- dry reservoir
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i="0" dirty="0">
                    <a:solidFill>
                      <a:schemeClr val="tx1"/>
                    </a:solidFill>
                    <a:latin typeface="Grandview Display"/>
                  </a:rPr>
                  <a:t>- water injection (left)
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i="0" dirty="0">
                    <a:solidFill>
                      <a:schemeClr val="tx1"/>
                    </a:solidFill>
                    <a:latin typeface="Grandview Display"/>
                  </a:rPr>
                  <a:t>- production (right)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078" y="5481827"/>
                <a:ext cx="4846320" cy="830997"/>
              </a:xfrm>
              <a:prstGeom prst="rect">
                <a:avLst/>
              </a:prstGeom>
              <a:blipFill>
                <a:blip r:embed="rId5"/>
                <a:stretch>
                  <a:fillRect t="-2190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fig_bl_phys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9053" y="847807"/>
            <a:ext cx="9072215" cy="355792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751FE5-E547-E6C0-8E62-7B2EF89D4CEC}"/>
              </a:ext>
            </a:extLst>
          </p:cNvPr>
          <p:cNvCxnSpPr>
            <a:stCxn id="9" idx="3"/>
          </p:cNvCxnSpPr>
          <p:nvPr/>
        </p:nvCxnSpPr>
        <p:spPr>
          <a:xfrm>
            <a:off x="6282198" y="4903426"/>
            <a:ext cx="0" cy="19137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Shock Dynamics - Analytical BL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Grandview Display"/>
              </a:rPr>
              <a:t>$M$ shifts the shock front position and changes displacement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analytical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445" y="1122883"/>
            <a:ext cx="777793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The Inverse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0040" y="731520"/>
                <a:ext cx="115214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Recover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sparse, noisy saturation measurements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731520"/>
                <a:ext cx="11521440" cy="276999"/>
              </a:xfrm>
              <a:prstGeom prst="rect">
                <a:avLst/>
              </a:prstGeom>
              <a:blipFill>
                <a:blip r:embed="rId2"/>
                <a:stretch>
                  <a:fillRect l="-5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521440" cy="1005840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1298448"/>
                <a:ext cx="11155680" cy="391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 i="0" dirty="0">
                    <a:solidFill>
                      <a:srgbClr val="0F766E"/>
                    </a:solidFill>
                    <a:latin typeface="Georgia"/>
                  </a:rPr>
                  <a:t>Given:  </a:t>
                </a:r>
                <a14:m>
                  <m:oMath xmlns:m="http://schemas.openxmlformats.org/officeDocument/2006/math">
                    <m:r>
                      <a:rPr lang="en-US" sz="13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sz="1300" b="1" i="0" dirty="0">
                    <a:solidFill>
                      <a:srgbClr val="0F766E"/>
                    </a:solidFill>
                    <a:latin typeface="Georgia"/>
                  </a:rPr>
                  <a:t> observations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3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sz="13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sz="1300" b="1" i="0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p>
                        </m:sSubSup>
                      </m:e>
                    </m:d>
                    <m:r>
                      <a:rPr lang="en-US" sz="1300" b="1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𝒘𝒊𝒕𝒉</m:t>
                    </m:r>
                    <m:sSubSup>
                      <m:sSubSupPr>
                        <m:ctrlPr>
                          <a:rPr lang="en-US" sz="1300" b="1" i="1" dirty="0" err="1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3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00" b="1" i="1" dirty="0" err="1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300" b="1" i="1" dirty="0" err="1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sz="1300" b="1" i="0" dirty="0" err="1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obs</m:t>
                        </m:r>
                      </m:sup>
                    </m:sSubSup>
                    <m:r>
                      <a:rPr lang="en-US" sz="1300" b="1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b="1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300" b="1" i="1" dirty="0" err="1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300" b="1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300" b="1" i="1" dirty="0" err="1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</m:sSub>
                    <m:sSub>
                      <m:sSubPr>
                        <m:ctrlPr>
                          <a:rPr lang="en-US" sz="1300" b="1" i="1" dirty="0" err="1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sz="1300" b="1" i="1" dirty="0" err="1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300" b="1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300" b="1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𝓝</m:t>
                    </m:r>
                    <m:d>
                      <m:dPr>
                        <m:ctrlP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3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300" b="1" i="1" dirty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1" i="1" dirty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sz="1300" b="1" i="1" dirty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sz="1300" b="1" i="0" dirty="0">
                  <a:solidFill>
                    <a:srgbClr val="0F766E"/>
                  </a:solidFill>
                  <a:latin typeface="Georgia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98448"/>
                <a:ext cx="11155680" cy="3917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200" y="1737360"/>
                <a:ext cx="1115568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 i="0" dirty="0">
                    <a:solidFill>
                      <a:srgbClr val="D97706"/>
                    </a:solidFill>
                    <a:latin typeface="Georgia"/>
                  </a:rPr>
                  <a:t>Find:  </a:t>
                </a:r>
                <a14:m>
                  <m:oMath xmlns:m="http://schemas.openxmlformats.org/officeDocument/2006/math">
                    <m:r>
                      <a:rPr lang="en-US" sz="1300" b="1" i="1" dirty="0" smtClean="0">
                        <a:solidFill>
                          <a:srgbClr val="D97706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sz="1300" b="1" i="0" dirty="0">
                    <a:solidFill>
                      <a:srgbClr val="D97706"/>
                    </a:solidFill>
                    <a:latin typeface="Georgia"/>
                  </a:rPr>
                  <a:t> (viscosity ratio)  and  </a:t>
                </a:r>
                <a14:m>
                  <m:oMath xmlns:m="http://schemas.openxmlformats.org/officeDocument/2006/math">
                    <m:r>
                      <a:rPr lang="en-US" sz="1300" b="1" i="1" dirty="0" smtClean="0">
                        <a:solidFill>
                          <a:srgbClr val="D97706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1300" b="1" i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00" b="1" i="1" dirty="0" err="1">
                        <a:solidFill>
                          <a:srgbClr val="D97706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00" b="1" i="1" dirty="0" err="1">
                        <a:solidFill>
                          <a:srgbClr val="D9770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300" b="1" i="1" dirty="0" err="1">
                        <a:solidFill>
                          <a:srgbClr val="D97706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1300" b="1" i="1" dirty="0" smtClean="0">
                        <a:solidFill>
                          <a:srgbClr val="D97706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300" b="1" i="0" dirty="0">
                    <a:solidFill>
                      <a:srgbClr val="D97706"/>
                    </a:solidFill>
                    <a:latin typeface="Georgia"/>
                  </a:rPr>
                  <a:t> (saturation field)   simultaneously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37360"/>
                <a:ext cx="11155680" cy="292388"/>
              </a:xfrm>
              <a:prstGeom prst="rect">
                <a:avLst/>
              </a:prstGeom>
              <a:blipFill>
                <a:blip r:embed="rId4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74320" y="2423160"/>
            <a:ext cx="5486400" cy="1783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250545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Ill-</a:t>
            </a:r>
            <a:r>
              <a:rPr sz="1600" b="1" i="0" dirty="0" err="1">
                <a:solidFill>
                  <a:srgbClr val="0F766E"/>
                </a:solidFill>
                <a:latin typeface="Georgia"/>
              </a:rPr>
              <a:t>posedness</a:t>
            </a:r>
            <a:endParaRPr sz="1600" b="1" i="0" dirty="0">
              <a:solidFill>
                <a:srgbClr val="0F766E"/>
              </a:solidFill>
              <a:latin typeface="Georg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6334" y="3136612"/>
                <a:ext cx="53218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The map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observations is many-to-one for small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. Physics constraints regularize the problem.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34" y="3136612"/>
                <a:ext cx="5321808" cy="584775"/>
              </a:xfrm>
              <a:prstGeom prst="rect">
                <a:avLst/>
              </a:prstGeom>
              <a:blipFill>
                <a:blip r:embed="rId5"/>
                <a:stretch>
                  <a:fillRect l="-573" t="-3158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6126480" y="2423160"/>
            <a:ext cx="5486400" cy="1783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50545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Moving discontinuity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245352" y="3136611"/>
                <a:ext cx="53218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The shock position depends nonlinearly on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. Small changes in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can shift the front significantly.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52" y="3136611"/>
                <a:ext cx="5321808" cy="584775"/>
              </a:xfrm>
              <a:prstGeom prst="rect">
                <a:avLst/>
              </a:prstGeom>
              <a:blipFill>
                <a:blip r:embed="rId6"/>
                <a:stretch>
                  <a:fillRect l="-687" t="-3158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274320" y="4343400"/>
            <a:ext cx="5486400" cy="1783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" y="442569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0F766E"/>
                </a:solidFill>
                <a:latin typeface="Georgia"/>
              </a:rPr>
              <a:t>Noise sensitivity</a:t>
            </a:r>
            <a:endParaRPr sz="1600" b="1" i="0" dirty="0">
              <a:solidFill>
                <a:srgbClr val="0F766E"/>
              </a:solidFill>
              <a:latin typeface="Georg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3192" y="4983700"/>
            <a:ext cx="5321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Observations near the shock front are most informative but also most affected by measurement noise.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343400"/>
            <a:ext cx="5486400" cy="1783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442569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0F766E"/>
                </a:solidFill>
                <a:latin typeface="Georgia"/>
              </a:rPr>
              <a:t>Computational cost</a:t>
            </a:r>
            <a:endParaRPr sz="1600" b="1" i="0" dirty="0">
              <a:solidFill>
                <a:srgbClr val="0F766E"/>
              </a:solidFill>
              <a:latin typeface="Georg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291072" y="4942552"/>
                <a:ext cx="53218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Traditional adjoint methods need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PDE solves. PINN amortizes this cost into one training run.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072" y="4942552"/>
                <a:ext cx="5321808" cy="584775"/>
              </a:xfrm>
              <a:prstGeom prst="rect">
                <a:avLst/>
              </a:prstGeom>
              <a:blipFill>
                <a:blip r:embed="rId7"/>
                <a:stretch>
                  <a:fillRect l="-573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Inverse PINN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1521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4748B"/>
                </a:solidFill>
                <a:latin typeface="Grandview Display"/>
              </a:rPr>
              <a:t>workflow diagram of the full inverse learning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arch_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1179661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Model Architecture, Loss Function, and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40664"/>
            <a:ext cx="5303520" cy="5120640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804672"/>
                <a:ext cx="49377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i="0" dirty="0">
                    <a:solidFill>
                      <a:srgbClr val="0F766E"/>
                    </a:solidFill>
                    <a:latin typeface="Georgia"/>
                  </a:rPr>
                  <a:t>Neural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16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6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endParaRPr sz="1600" b="1" i="0" dirty="0">
                  <a:solidFill>
                    <a:srgbClr val="0F766E"/>
                  </a:solidFill>
                  <a:latin typeface="Georgia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04672"/>
                <a:ext cx="4937760" cy="338554"/>
              </a:xfrm>
              <a:prstGeom prst="rect">
                <a:avLst/>
              </a:prstGeom>
              <a:blipFill>
                <a:blip r:embed="rId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200" y="1408574"/>
                <a:ext cx="5029200" cy="4016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Input: 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 - 2D (position and time)
Input: 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 is NOT an input - it is a learnable parameter
Hidden:  30 layers x 50 neurons = 1,500 hidden units
Activation:  tanh (smooth, suitable for PDE problems)
Output:  1 neuron + sigmoid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
Params:  74,151 total (Xavier initialization)
Learnable scalar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500" b="0" i="0" dirty="0">
                    <a:solidFill>
                      <a:srgbClr val="1C2331"/>
                    </a:solidFill>
                    <a:latin typeface="Grandview Display"/>
                  </a:rPr>
                  <a:t> </a:t>
                </a:r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(</a:t>
                </a:r>
                <a:r>
                  <a:rPr sz="1500" b="0" i="0" dirty="0" err="1">
                    <a:solidFill>
                      <a:srgbClr val="1C2331"/>
                    </a:solidFill>
                    <a:latin typeface="Grandview Display"/>
                  </a:rPr>
                  <a:t>torch.nn.Parameter</a:t>
                </a:r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):
  Init: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   True: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500" b="0" i="1" dirty="0" err="1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b>
                      <m:sSubPr>
                        <m:ctrlPr>
                          <a:rPr lang="en-US" sz="15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5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500" b="0" i="0" dirty="0">
                  <a:solidFill>
                    <a:srgbClr val="1C2331"/>
                  </a:solidFill>
                  <a:latin typeface="Grandview Display"/>
                </a:endParaRPr>
              </a:p>
              <a:p>
                <a:pPr algn="l"/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
  Optimized jointly with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 via backprop
Vanishing viscosity stabilization:
  PDE modified: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sz="1500" b="0" i="1" dirty="0" err="1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b="0" i="1" dirty="0" err="1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sz="1500" b="0" i="1" dirty="0" err="1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lit/>
                      </m:rP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
 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0035</m:t>
                    </m:r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 - prevents shock divergence
  Corresponds to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cells of smoothing in 300-pt grid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08574"/>
                <a:ext cx="5029200" cy="4016484"/>
              </a:xfrm>
              <a:prstGeom prst="rect">
                <a:avLst/>
              </a:prstGeom>
              <a:blipFill>
                <a:blip r:embed="rId3"/>
                <a:stretch>
                  <a:fillRect l="-485" t="-303" b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5833745" y="731520"/>
            <a:ext cx="6035040" cy="56692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16625" y="7955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D97706"/>
                </a:solidFill>
                <a:latin typeface="Georgia"/>
              </a:rPr>
              <a:t>Loss Function and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16625" y="1188720"/>
                <a:ext cx="5669280" cy="4338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Composite loss (all weights = 1.0):
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𝒫𝒟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ℰ</m:t>
                        </m:r>
                      </m:sub>
                    </m:sSub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 - PDE residual at 50,000 LHS points</a:t>
                </a:r>
                <a:endParaRPr lang="en-US" sz="1500" b="0" i="0" dirty="0">
                  <a:solidFill>
                    <a:srgbClr val="1C2331"/>
                  </a:solidFill>
                  <a:latin typeface="Grandview Display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𝒫𝒟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ℰ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500" b="0" i="0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mean</m:t>
                    </m:r>
                    <m:d>
                      <m:d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 b="0" i="1" dirty="0" err="1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500" b="0" i="1" dirty="0" err="1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500" b="0" i="1" dirty="0" err="1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500" b="0" i="1" dirty="0" err="1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500" b="0" i="1" dirty="0" err="1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  <m:sup>
                            <m: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ℐ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- initial condition at 512 points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ℐ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500" b="0" i="0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mean</m:t>
                    </m:r>
                    <m:d>
                      <m:d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ℬ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- boundary conditions
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ℬ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500" b="0" i="0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mean</m:t>
                    </m:r>
                    <m:d>
                      <m:d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𝒹𝒶𝓉𝒶</m:t>
                        </m:r>
                      </m:sub>
                    </m:sSub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- sensor mismatch at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 points (primary driver of M)
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</m:t>
                        </m:r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𝒹𝒶𝓉𝒶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500" b="0" i="0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mean</m:t>
                    </m:r>
                    <m:d>
                      <m:d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500" b="0" i="1" dirty="0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500" b="0" i="1" dirty="0" err="1">
                                            <a:solidFill>
                                              <a:srgbClr val="1C233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b="0" i="1" dirty="0" err="1">
                                            <a:solidFill>
                                              <a:srgbClr val="1C233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500" b="0" i="1" dirty="0" err="1">
                                            <a:solidFill>
                                              <a:srgbClr val="1C233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500" b="0" i="1" dirty="0" err="1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500" b="0" i="1" dirty="0" err="1">
                                            <a:solidFill>
                                              <a:srgbClr val="1C233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b="0" i="1" dirty="0" err="1">
                                            <a:solidFill>
                                              <a:srgbClr val="1C233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500" b="0" i="1" dirty="0" err="1">
                                            <a:solidFill>
                                              <a:srgbClr val="1C233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500" b="0" i="1" dirty="0">
                                    <a:solidFill>
                                      <a:srgbClr val="1C233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sz="1500" b="0" i="1" dirty="0" err="1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dirty="0" err="1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500" b="0" i="1" dirty="0" err="1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500" b="0" i="0" dirty="0" err="1">
                                        <a:solidFill>
                                          <a:srgbClr val="1C233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obs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15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𝓉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ℴ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𝓉𝒶𝓁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𝒫𝒟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ℰ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ℐ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ℬ</m:t>
                        </m:r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5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𝒹𝒶𝓉𝒶</m:t>
                        </m:r>
                      </m:sub>
                    </m:sSub>
                  </m:oMath>
                </a14:m>
                <a:r>
                  <a:rPr sz="1500" b="0" i="0" dirty="0">
                    <a:solidFill>
                      <a:srgbClr val="1C2331"/>
                    </a:solidFill>
                    <a:latin typeface="Grandview Display"/>
                  </a:rPr>
                  <a:t>
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25" y="1188720"/>
                <a:ext cx="5669280" cy="4338239"/>
              </a:xfrm>
              <a:prstGeom prst="rect">
                <a:avLst/>
              </a:prstGeom>
              <a:blipFill>
                <a:blip r:embed="rId4"/>
                <a:stretch>
                  <a:fillRect l="-430" t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9BA087-609B-6BA2-B256-553A2F00ABB5}"/>
                  </a:ext>
                </a:extLst>
              </p:cNvPr>
              <p:cNvSpPr txBox="1"/>
              <p:nvPr/>
            </p:nvSpPr>
            <p:spPr>
              <a:xfrm>
                <a:off x="4732553" y="5340536"/>
                <a:ext cx="785641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i="0" dirty="0">
                    <a:solidFill>
                      <a:srgbClr val="1C2331"/>
                    </a:solidFill>
                    <a:latin typeface="Grandview Display"/>
                  </a:rPr>
                  <a:t>Optimizer:
  Phase 1: Adam - 2,000 epochs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dirty="0" err="1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b>
                      <m:sSubPr>
                        <m:ctrlPr>
                          <a:rPr lang="en-US" sz="14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dirty="0" err="1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b>
                      <m:sSubPr>
                        <m:ctrlPr>
                          <a:rPr lang="en-US" sz="14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dirty="0" err="1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400" b="0" i="0" dirty="0">
                    <a:solidFill>
                      <a:srgbClr val="1C2331"/>
                    </a:solidFill>
                    <a:latin typeface="Grandview Display"/>
                  </a:rPr>
                  <a:t>
           LR halved at epochs 700 and 1,350
  Phase 2: L-BFGS - 1,000 steps, </a:t>
                </a:r>
                <a:r>
                  <a:rPr lang="en-US" sz="1400" b="0" i="0" dirty="0" err="1">
                    <a:solidFill>
                      <a:srgbClr val="1C2331"/>
                    </a:solidFill>
                    <a:latin typeface="Grandview Display"/>
                  </a:rPr>
                  <a:t>lr</a:t>
                </a:r>
                <a:r>
                  <a:rPr lang="en-US" sz="1400" b="0" i="0" dirty="0">
                    <a:solidFill>
                      <a:srgbClr val="1C2331"/>
                    </a:solidFill>
                    <a:latin typeface="Grandview Display"/>
                  </a:rPr>
                  <a:t> = 1.0 (2nd-order polish)
</a:t>
                </a:r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9BA087-609B-6BA2-B256-553A2F00A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553" y="5340536"/>
                <a:ext cx="7856413" cy="1169551"/>
              </a:xfrm>
              <a:prstGeom prst="rect">
                <a:avLst/>
              </a:prstGeom>
              <a:blipFill>
                <a:blip r:embed="rId5"/>
                <a:stretch>
                  <a:fillRect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Training Dynamics - Loss Convergence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0040" y="731520"/>
                <a:ext cx="115214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Adam phase: 2,000 epochs | N=50 sensors, 5% noise,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  <m:r>
                      <a:rPr lang="en-US" sz="1200" b="0" i="1" dirty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3.0</m:t>
                    </m:r>
                  </m:oMath>
                </a14:m>
                <a:endParaRPr sz="1200" b="0" i="1" dirty="0">
                  <a:solidFill>
                    <a:srgbClr val="64748B"/>
                  </a:solidFill>
                  <a:latin typeface="Grandview Display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731520"/>
                <a:ext cx="11521440" cy="276999"/>
              </a:xfrm>
              <a:prstGeom prst="rect">
                <a:avLst/>
              </a:prstGeom>
              <a:blipFill>
                <a:blip r:embed="rId2"/>
                <a:stretch>
                  <a:fillRect l="-5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loss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6722"/>
            <a:ext cx="11466468" cy="41074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Grandview Display"/>
              </a:rPr>
              <a:t>Systematic ablation: two independent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4864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61872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Georgia"/>
              </a:rPr>
              <a:t>RQ1 - Data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200" y="2431286"/>
                <a:ext cx="5120640" cy="33107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Question:
</a:t>
                </a:r>
                <a:r>
                  <a:rPr sz="1600" b="1" i="0" dirty="0">
                    <a:solidFill>
                      <a:srgbClr val="1C2331"/>
                    </a:solidFill>
                    <a:latin typeface="Grandview Display"/>
                  </a:rPr>
                  <a:t>How many sensor observations are needed</a:t>
                </a:r>
                <a:r>
                  <a:rPr lang="en-US" sz="1600" b="1" i="0" dirty="0">
                    <a:solidFill>
                      <a:srgbClr val="1C2331"/>
                    </a:solidFill>
                    <a:latin typeface="Grandview Display"/>
                  </a:rPr>
                  <a:t> </a:t>
                </a:r>
                <a:r>
                  <a:rPr sz="1600" b="1" i="0" dirty="0">
                    <a:solidFill>
                      <a:srgbClr val="1C2331"/>
                    </a:solidFill>
                    <a:latin typeface="Grandview Display"/>
                  </a:rPr>
                  <a:t>to accurately identify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sz="1600" b="1" i="0" dirty="0">
                    <a:solidFill>
                      <a:srgbClr val="1C2331"/>
                    </a:solidFill>
                    <a:latin typeface="Grandview Display"/>
                  </a:rPr>
                  <a:t>?</a:t>
                </a:r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
Varied: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data</m:t>
                        </m:r>
                      </m:sub>
                    </m:sSub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lit/>
                      </m:rP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
Fixed:
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true</m:t>
                        </m:r>
                      </m:sub>
                    </m:sSub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
  Noise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
  </a:t>
                </a:r>
                <a:endParaRPr lang="en-US" sz="1600" b="0" i="0" dirty="0">
                  <a:solidFill>
                    <a:srgbClr val="1C2331"/>
                  </a:solidFill>
                  <a:latin typeface="Grandview Display"/>
                </a:endParaRPr>
              </a:p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Architecture: 30 layers x 50 neurons
Collocation: 50,000 LHS points
Training: Adam(2000) + L-BFGS(1000)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31286"/>
                <a:ext cx="5120640" cy="3310778"/>
              </a:xfrm>
              <a:prstGeom prst="rect">
                <a:avLst/>
              </a:prstGeom>
              <a:blipFill>
                <a:blip r:embed="rId2"/>
                <a:stretch>
                  <a:fillRect l="-595" t="-552" b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6217920" y="1234440"/>
            <a:ext cx="5577840" cy="50292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57784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Georgia"/>
              </a:rPr>
              <a:t>RQ2 - Noise Robustness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46520" y="2431286"/>
                <a:ext cx="5212080" cy="33107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Question:
</a:t>
                </a:r>
                <a:r>
                  <a:rPr sz="1600" b="1" i="0" dirty="0">
                    <a:solidFill>
                      <a:srgbClr val="1C2331"/>
                    </a:solidFill>
                    <a:latin typeface="Grandview Display"/>
                  </a:rPr>
                  <a:t>How much measurement noise can the</a:t>
                </a:r>
                <a:r>
                  <a:rPr lang="en-US" sz="1600" b="1" i="0" dirty="0">
                    <a:solidFill>
                      <a:srgbClr val="1C2331"/>
                    </a:solidFill>
                    <a:latin typeface="Grandview Display"/>
                  </a:rPr>
                  <a:t> </a:t>
                </a:r>
                <a:r>
                  <a:rPr sz="1600" b="1" i="0" dirty="0">
                    <a:solidFill>
                      <a:srgbClr val="1C2331"/>
                    </a:solidFill>
                    <a:latin typeface="Grandview Display"/>
                  </a:rPr>
                  <a:t>inverse PINN tolerate?</a:t>
                </a:r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
Varied:  </a:t>
                </a: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%, 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%, 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%, 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%, 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%, </m:t>
                    </m:r>
                    <m:r>
                      <a:rPr lang="it-IT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it-IT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lit/>
                      </m:rPr>
                      <a:rPr lang="it-IT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
Fixed:
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true</m:t>
                        </m:r>
                      </m:sub>
                    </m:sSub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
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data</m:t>
                        </m:r>
                      </m:sub>
                    </m:sSub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
  </a:t>
                </a:r>
                <a:endParaRPr lang="en-US" sz="1600" b="0" i="0" dirty="0">
                  <a:solidFill>
                    <a:srgbClr val="1C2331"/>
                  </a:solidFill>
                  <a:latin typeface="Grandview Display"/>
                </a:endParaRPr>
              </a:p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Architecture: 30 layers x 50 neurons</a:t>
                </a:r>
                <a:r>
                  <a:rPr lang="en-US" sz="1600" b="0" i="0" dirty="0">
                    <a:solidFill>
                      <a:srgbClr val="1C2331"/>
                    </a:solidFill>
                    <a:latin typeface="Grandview Display"/>
                  </a:rPr>
                  <a:t>
</a:t>
                </a:r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Collocation: 50,000 LHS points
Training: Adam(2000) + L-BFGS(1000)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2431286"/>
                <a:ext cx="5212080" cy="3310778"/>
              </a:xfrm>
              <a:prstGeom prst="rect">
                <a:avLst/>
              </a:prstGeom>
              <a:blipFill>
                <a:blip r:embed="rId3"/>
                <a:stretch>
                  <a:fillRect l="-702" t="-552" b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327756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C2331"/>
                </a:solidFill>
                <a:latin typeface="Georgia"/>
              </a:rPr>
              <a:t>Data Generation - Latin Hypercube 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lhs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07911"/>
            <a:ext cx="6858000" cy="46692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28016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Georgia"/>
              </a:rPr>
              <a:t>Why LHS over uniform random?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28800"/>
            <a:ext cx="4389120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8392" y="1911096"/>
            <a:ext cx="4224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Georgia"/>
              </a:rPr>
              <a:t>Full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276856"/>
            <a:ext cx="4224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Guarantees each row and column of the domain is sampled exactly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3017520"/>
            <a:ext cx="4389120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8392" y="3099816"/>
            <a:ext cx="4224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Georgia"/>
              </a:rPr>
              <a:t>No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465576"/>
            <a:ext cx="4224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Avoids accidental gaps where the PDE residual is never enforced.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4206240"/>
            <a:ext cx="4389120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08392" y="4288536"/>
            <a:ext cx="4224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Georgia"/>
              </a:rPr>
              <a:t>Noise injection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708392" y="4654296"/>
                <a:ext cx="422452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sensor points have Gaussian noise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added to true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values.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392" y="4654296"/>
                <a:ext cx="4224528" cy="584775"/>
              </a:xfrm>
              <a:prstGeom prst="rect">
                <a:avLst/>
              </a:prstGeom>
              <a:blipFill>
                <a:blip r:embed="rId3"/>
                <a:stretch>
                  <a:fillRect t="-3158" b="-1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7589520" y="5394960"/>
            <a:ext cx="4389120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08392" y="5477256"/>
            <a:ext cx="4224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Georgia"/>
              </a:rPr>
              <a:t>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708392" y="5843016"/>
                <a:ext cx="422452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50,000 collocation + 512 IC +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sensor pts per experiment.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392" y="5843016"/>
                <a:ext cx="4224528" cy="584775"/>
              </a:xfrm>
              <a:prstGeom prst="rect">
                <a:avLst/>
              </a:prstGeom>
              <a:blipFill>
                <a:blip r:embed="rId4"/>
                <a:stretch>
                  <a:fillRect l="-866" t="-3158" b="-1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6673" y="47962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C2331"/>
                </a:solidFill>
                <a:latin typeface="Georgia"/>
              </a:rPr>
              <a:t>What Sensor Data Looks Like at Different Noise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19474" y="5933079"/>
            <a:ext cx="73498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64748B"/>
                </a:solidFill>
                <a:latin typeface="Grandview Display"/>
              </a:rPr>
              <a:t>50% noise fundamentally changes what the optimizer sees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noise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9" y="1868318"/>
            <a:ext cx="11959265" cy="35459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RQ1 Results - Data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0040" y="731520"/>
                <a:ext cx="115214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Parameter error,</a:t>
                </a:r>
                <a:r>
                  <a:rPr lang="en-US" sz="1200" b="0" i="1" dirty="0">
                    <a:solidFill>
                      <a:srgbClr val="64748B"/>
                    </a:solidFill>
                    <a:latin typeface="Grandview Display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convergence, and L2 accuracy across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sz="1200" b="0" i="1" dirty="0">
                  <a:solidFill>
                    <a:srgbClr val="64748B"/>
                  </a:solidFill>
                  <a:latin typeface="Grandview Display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731520"/>
                <a:ext cx="11521440" cy="276999"/>
              </a:xfrm>
              <a:prstGeom prst="rect">
                <a:avLst/>
              </a:prstGeom>
              <a:blipFill>
                <a:blip r:embed="rId2"/>
                <a:stretch>
                  <a:fillRect l="-5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rq1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1132997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RQ1 - Diminishing Returns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Grandview Display"/>
              </a:rPr>
              <a:t>The first 50 sensors provide most of the 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diminishing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83643"/>
            <a:ext cx="11745641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5852160"/>
            <a:ext cx="11521440" cy="594360"/>
          </a:xfrm>
          <a:prstGeom prst="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888736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C2331"/>
                </a:solidFill>
                <a:latin typeface="Grandview Display"/>
              </a:rPr>
              <a:t>Key insight: the 10 to 50 sensor transition yields the steepest error drop. N=100 gives only marginal improvement over N=50. N&gt;100 shows no monotone improvement, suggesting optimization variance dominates data quantity.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RQ1 - Saturation Profiles: N=10 vs N=500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0040" y="635508"/>
                <a:ext cx="115214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Time snapshots at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dirty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=0.25, 0.5, 0.75, </m:t>
                    </m:r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 | 5% noise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635508"/>
                <a:ext cx="11521440" cy="276999"/>
              </a:xfrm>
              <a:prstGeom prst="rect">
                <a:avLst/>
              </a:prstGeom>
              <a:blipFill>
                <a:blip r:embed="rId2"/>
                <a:stretch>
                  <a:fillRect l="-5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exp_M=3.00_diff_0.0035_L30_W50_Nu512_Nf50000_Inv_Ndat10_Noise0.05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704" y="1010412"/>
            <a:ext cx="9607163" cy="2401791"/>
          </a:xfrm>
          <a:prstGeom prst="rect">
            <a:avLst/>
          </a:prstGeom>
        </p:spPr>
      </p:pic>
      <p:pic>
        <p:nvPicPr>
          <p:cNvPr id="9" name="Picture 8" descr="exp_M=3.00_diff_0.0035_L30_W50_Nu512_Nf50000_Inv_Ndat500_Noise0.05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126" y="3915305"/>
            <a:ext cx="9418320" cy="23545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460805" y="3346704"/>
            <a:ext cx="5806440" cy="272124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552245" y="3364992"/>
                <a:ext cx="56263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100" b="1" i="1" dirty="0" smtClean="0">
                              <a:solidFill>
                                <a:srgbClr val="D9770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dirty="0" smtClean="0">
                              <a:solidFill>
                                <a:srgbClr val="D97706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100" b="1" i="1" dirty="0">
                              <a:solidFill>
                                <a:srgbClr val="D97706"/>
                              </a:solidFill>
                              <a:latin typeface="Cambria Math" panose="02040503050406030204" pitchFamily="18" charset="0"/>
                            </a:rPr>
                            <m:t>𝒆𝒔𝒕</m:t>
                          </m:r>
                        </m:sub>
                      </m:sSub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𝟗𝟏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𝑬𝒓𝒓𝒐𝒓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% | 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𝑺𝒉𝒐𝒄𝒌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𝒑𝒐𝒔𝒊𝒕𝒊𝒐𝒏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𝒘𝒓𝒐𝒏𝒈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𝒂𝒕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𝒂𝒍𝒍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𝒕𝒊𝒎𝒆𝒔</m:t>
                      </m:r>
                    </m:oMath>
                  </m:oMathPara>
                </a14:m>
                <a:endParaRPr sz="1100" b="1" i="0" dirty="0">
                  <a:solidFill>
                    <a:srgbClr val="D97706"/>
                  </a:solidFill>
                  <a:latin typeface="Grandview Display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245" y="3364992"/>
                <a:ext cx="5626395" cy="261610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145472" y="6350508"/>
            <a:ext cx="5897880" cy="288036"/>
          </a:xfrm>
          <a:prstGeom prst="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36912" y="6368796"/>
                <a:ext cx="571500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𝟓𝟎𝟎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100" b="1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100" b="1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</a:rPr>
                            <m:t>𝒆𝒔𝒕</m:t>
                          </m:r>
                        </m:sub>
                      </m:sSub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𝑬𝒓𝒓𝒐𝒓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% | 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𝑮𝒐𝒐𝒅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𝒔𝒉𝒐𝒄𝒌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𝒕𝒓𝒂𝒄𝒌𝒊𝒏𝒈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𝒂𝒕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𝒂𝒍𝒍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</a:rPr>
                        <m:t>𝒕𝒊𝒎𝒆𝒔</m:t>
                      </m:r>
                    </m:oMath>
                  </m:oMathPara>
                </a14:m>
                <a:endParaRPr sz="1100" b="1" i="0" dirty="0">
                  <a:solidFill>
                    <a:srgbClr val="0F766E"/>
                  </a:solidFill>
                  <a:latin typeface="Grandview Display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912" y="6368796"/>
                <a:ext cx="5715000" cy="261610"/>
              </a:xfrm>
              <a:prstGeom prst="rect">
                <a:avLst/>
              </a:prstGeom>
              <a:blipFill>
                <a:blip r:embed="rId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RQ1 - Best Case: N=500 Saturation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Grandview Display"/>
              </a:rPr>
              <a:t>PINN captures the shock front accurately across the full time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exp_M=3.00_diff_0.0035_L30_W50_Nu512_Nf50000_Inv_Ndat500_Noise0.05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2" y="2088811"/>
            <a:ext cx="11934576" cy="29836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5852160"/>
            <a:ext cx="11521440" cy="548640"/>
          </a:xfrm>
          <a:prstGeom prst="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200" y="5987559"/>
                <a:ext cx="1115568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𝒆𝒔𝒕𝒊𝒎𝒂𝒕𝒆𝒅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𝟒𝟗𝟖</m:t>
                    </m:r>
                  </m:oMath>
                </a14:m>
                <a:r>
                  <a:rPr lang="en-US" sz="1400" b="1" i="0" dirty="0">
                    <a:solidFill>
                      <a:srgbClr val="0F766E"/>
                    </a:solidFill>
                    <a:latin typeface="+mj-lt"/>
                  </a:rPr>
                  <a:t>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𝒕𝒓𝒖𝒆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400" b="1" i="0" dirty="0">
                    <a:solidFill>
                      <a:srgbClr val="0F766E"/>
                    </a:solidFill>
                    <a:latin typeface="+mj-lt"/>
                  </a:rPr>
                  <a:t>|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𝑬𝒓𝒓𝒐𝒓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% | 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𝑺𝒂𝒕𝒖𝒓𝒂𝒕𝒊𝒐𝒏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𝟎𝟒𝟕</m:t>
                    </m:r>
                  </m:oMath>
                </a14:m>
                <a:endParaRPr sz="1400" b="1" i="0" dirty="0">
                  <a:solidFill>
                    <a:srgbClr val="0F766E"/>
                  </a:solidFill>
                  <a:latin typeface="Georgia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987559"/>
                <a:ext cx="11155680" cy="307777"/>
              </a:xfrm>
              <a:prstGeom prst="rect">
                <a:avLst/>
              </a:prstGeom>
              <a:blipFill>
                <a:blip r:embed="rId3"/>
                <a:stretch>
                  <a:fillRect t="-1961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RQ2 Results - Noise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Grandview Display"/>
              </a:rPr>
              <a:t>Robust 0-20% noise | catastrophic failure at 50%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rq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46896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RQ2 - Saturation Profiles: 5% vs 50%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0040" y="731520"/>
                <a:ext cx="115214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Same N=50 sensors - noise level determines whether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200" b="0" i="1" dirty="0">
                    <a:solidFill>
                      <a:srgbClr val="64748B"/>
                    </a:solidFill>
                    <a:latin typeface="Grandview Display"/>
                  </a:rPr>
                  <a:t> is recoverable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731520"/>
                <a:ext cx="11521440" cy="276999"/>
              </a:xfrm>
              <a:prstGeom prst="rect">
                <a:avLst/>
              </a:prstGeom>
              <a:blipFill>
                <a:blip r:embed="rId2"/>
                <a:stretch>
                  <a:fillRect l="-5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exp_M=3.00_diff_0.0035_L30_W50_Nu512_Nf50000_Inv_Ndat50_Noise0.05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141" y="3901504"/>
            <a:ext cx="9448542" cy="2362136"/>
          </a:xfrm>
          <a:prstGeom prst="rect">
            <a:avLst/>
          </a:prstGeom>
        </p:spPr>
      </p:pic>
      <p:pic>
        <p:nvPicPr>
          <p:cNvPr id="9" name="Picture 8" descr="exp_M=3.00_diff_0.0035_L30_W50_Nu512_Nf50000_Inv_Ndat50_Noise0.5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801" y="1007669"/>
            <a:ext cx="9335222" cy="233380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453662" y="6349500"/>
            <a:ext cx="5261776" cy="228601"/>
          </a:xfrm>
          <a:prstGeom prst="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545102" y="6342850"/>
                <a:ext cx="509862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% 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𝒏𝒐𝒊𝒔𝒆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1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1" dirty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1100" b="1" i="1" dirty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</a:rPr>
                          <m:t>𝒆𝒔𝒕</m:t>
                        </m:r>
                      </m:sub>
                    </m:sSub>
                    <m:r>
                      <a:rPr lang="en-US" sz="1100" b="1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sz="1100" b="1" i="0" dirty="0">
                    <a:solidFill>
                      <a:srgbClr val="0F766E"/>
                    </a:solidFill>
                    <a:latin typeface="Grandview Display"/>
                  </a:rPr>
                  <a:t> |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𝑬𝒓𝒓𝒐𝒓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𝟐𝟑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sz="1100" b="1" i="0" dirty="0">
                    <a:solidFill>
                      <a:srgbClr val="0F766E"/>
                    </a:solidFill>
                    <a:latin typeface="Grandview Display"/>
                  </a:rPr>
                  <a:t>|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𝑷𝒉𝒚𝒔𝒊𝒄𝒂𝒍𝒍𝒚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b="1" i="1" dirty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</a:rPr>
                      <m:t>𝒄𝒐𝒏𝒔𝒊𝒔𝒕𝒆𝒏𝒕</m:t>
                    </m:r>
                  </m:oMath>
                </a14:m>
                <a:endParaRPr sz="1100" b="1" i="0" dirty="0">
                  <a:solidFill>
                    <a:srgbClr val="0F766E"/>
                  </a:solidFill>
                  <a:latin typeface="Grandview Display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102" y="6342850"/>
                <a:ext cx="5098620" cy="261610"/>
              </a:xfrm>
              <a:prstGeom prst="rect">
                <a:avLst/>
              </a:prstGeom>
              <a:blipFill>
                <a:blip r:embed="rId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039386" y="3500066"/>
            <a:ext cx="5897880" cy="315470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30826" y="3518354"/>
                <a:ext cx="571500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𝒏𝒐𝒊𝒔𝒆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100" b="1" i="1" dirty="0" smtClean="0">
                              <a:solidFill>
                                <a:srgbClr val="D9770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dirty="0" smtClean="0">
                              <a:solidFill>
                                <a:srgbClr val="D97706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100" b="1" i="1" dirty="0" smtClean="0">
                              <a:solidFill>
                                <a:srgbClr val="D97706"/>
                              </a:solidFill>
                              <a:latin typeface="Cambria Math" panose="02040503050406030204" pitchFamily="18" charset="0"/>
                            </a:rPr>
                            <m:t>𝒆𝒔𝒕</m:t>
                          </m:r>
                        </m:sub>
                      </m:sSub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𝟑𝟏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𝑬𝒓𝒓𝒐𝒓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𝟏𝟒𝟒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% | 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𝑶𝒑𝒕𝒊𝒎𝒊𝒛𝒂𝒕𝒊𝒐𝒏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solidFill>
                            <a:srgbClr val="D97706"/>
                          </a:solidFill>
                          <a:latin typeface="Cambria Math" panose="02040503050406030204" pitchFamily="18" charset="0"/>
                        </a:rPr>
                        <m:t>𝒅𝒊𝒗𝒆𝒓𝒈𝒆𝒔</m:t>
                      </m:r>
                    </m:oMath>
                  </m:oMathPara>
                </a14:m>
                <a:endParaRPr sz="1100" b="1" i="0" dirty="0">
                  <a:solidFill>
                    <a:srgbClr val="D97706"/>
                  </a:solidFill>
                  <a:latin typeface="Grandview Display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826" y="3518354"/>
                <a:ext cx="5715000" cy="261610"/>
              </a:xfrm>
              <a:prstGeom prst="rect">
                <a:avLst/>
              </a:prstGeom>
              <a:blipFill>
                <a:blip r:embed="rId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376161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C2331"/>
                </a:solidFill>
                <a:latin typeface="Georgia"/>
              </a:rPr>
              <a:t>Why Does the Method Fail at 50% Noise?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67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Grandview Display"/>
              </a:rPr>
              <a:t>Structural analysis of the optimization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0302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0180"/>
            <a:ext cx="5486400" cy="2240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1600563"/>
            <a:ext cx="5321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97706"/>
                </a:solidFill>
                <a:latin typeface="Georgia"/>
              </a:rPr>
              <a:t>Signal overwhelmed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8912" y="2163314"/>
                <a:ext cx="5321808" cy="8506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, noise std = 0.5 (saturation range is 0-1). Sensor 'observations' are essentially random numbers. The data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𝒹𝒶𝓉𝒶</m:t>
                        </m:r>
                      </m:sub>
                    </m:sSub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points in wrong directions.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163314"/>
                <a:ext cx="5321808" cy="850682"/>
              </a:xfrm>
              <a:prstGeom prst="rect">
                <a:avLst/>
              </a:prstGeom>
              <a:blipFill>
                <a:blip r:embed="rId2"/>
                <a:stretch>
                  <a:fillRect l="-573" t="-2158" b="-5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6126480" y="1440180"/>
            <a:ext cx="5486400" cy="2240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522476"/>
            <a:ext cx="5321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97706"/>
                </a:solidFill>
                <a:latin typeface="Georgia"/>
              </a:rPr>
              <a:t>False minimum in $M$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45352" y="2161327"/>
                <a:ext cx="532180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7.31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is found because it fits the noisy observations better than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3.0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does - noise creates a spurious loss valley. L2 saturation error jumps from 0.07 to 0.325.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52" y="2161327"/>
                <a:ext cx="5321808" cy="830997"/>
              </a:xfrm>
              <a:prstGeom prst="rect">
                <a:avLst/>
              </a:prstGeom>
              <a:blipFill>
                <a:blip r:embed="rId3"/>
                <a:stretch>
                  <a:fillRect l="-687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74320" y="3817620"/>
            <a:ext cx="5486400" cy="2240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93192" y="3899916"/>
            <a:ext cx="5321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97706"/>
                </a:solidFill>
                <a:latin typeface="Georgia"/>
              </a:rPr>
              <a:t>Physics loss cannot compensate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38912" y="4480468"/>
                <a:ext cx="5321808" cy="843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𝒫𝒟ℰ</m:t>
                        </m:r>
                      </m:sub>
                    </m:sSub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is satisfied (shock structure is learned) but for the wrong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. The physics constraint alone cannot uniquely determine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when observations carry no signal.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4480468"/>
                <a:ext cx="5321808" cy="843629"/>
              </a:xfrm>
              <a:prstGeom prst="rect">
                <a:avLst/>
              </a:prstGeom>
              <a:blipFill>
                <a:blip r:embed="rId4"/>
                <a:stretch>
                  <a:fillRect l="-573" t="-289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126480" y="3817620"/>
            <a:ext cx="5486400" cy="2240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5352" y="3899916"/>
            <a:ext cx="5321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97706"/>
                </a:solidFill>
                <a:latin typeface="Georgia"/>
              </a:rPr>
              <a:t>Mitigation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245352" y="4399151"/>
                <a:ext cx="532180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- Increase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(more observations reduce noise impact)
- Ensemble averaging over multiple noise realizations
- Bayesian PINN with uncertainty quantification
- Strong prior on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range if domain knowledge exists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52" y="4399151"/>
                <a:ext cx="5321808" cy="1077218"/>
              </a:xfrm>
              <a:prstGeom prst="rect">
                <a:avLst/>
              </a:prstGeom>
              <a:blipFill>
                <a:blip r:embed="rId5"/>
                <a:stretch>
                  <a:fillRect l="-687" t="-1705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L2 Error Breakdown by Time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692" y="586131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4748B"/>
                </a:solidFill>
                <a:latin typeface="Grandview Display"/>
              </a:rPr>
              <a:t>Heatmap: rows = experiment, columns = time snapshots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l2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87652"/>
            <a:ext cx="11554947" cy="4203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4320" y="6113770"/>
                <a:ext cx="115214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0" i="1" dirty="0">
                    <a:solidFill>
                      <a:srgbClr val="64748B"/>
                    </a:solidFill>
                    <a:latin typeface="Grandview Display"/>
                  </a:rPr>
                  <a:t>Observation: early times (</a:t>
                </a:r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100" b="0" i="1" dirty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1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1100" b="0" i="1" dirty="0">
                    <a:solidFill>
                      <a:srgbClr val="64748B"/>
                    </a:solidFill>
                    <a:latin typeface="Grandview Display"/>
                  </a:rPr>
                  <a:t>) are consistently harder - the shock is steeper. Late times (</a:t>
                </a:r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100" b="0" i="1" dirty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1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100" b="0" i="1" dirty="0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100" b="0" i="1" dirty="0">
                    <a:solidFill>
                      <a:srgbClr val="64748B"/>
                    </a:solidFill>
                    <a:latin typeface="Grandview Display"/>
                  </a:rPr>
                  <a:t>) show lower absolute error across all experiments.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6113770"/>
                <a:ext cx="11521440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Complete Experiment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Grandview Display"/>
              </a:rPr>
              <a:t>Color-coded by parameter error severity: green &lt; 25%, yellow 25-31%, red &gt; 30%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pic>
        <p:nvPicPr>
          <p:cNvPr id="8" name="Picture 7" descr="fig_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3" y="1479499"/>
            <a:ext cx="12070312" cy="45829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3692" y="360153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331"/>
                </a:solidFill>
                <a:latin typeface="Georgia"/>
              </a:rPr>
              <a:t>Key Insights and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316736"/>
            <a:ext cx="5321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1  Simultaneous recovery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3192" y="1962964"/>
                <a:ext cx="53218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The PINN successfully learns both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 err="1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 err="1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dirty="0" err="1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and scalar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in a single training run. No separate calibration step needed.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62964"/>
                <a:ext cx="5321808" cy="584775"/>
              </a:xfrm>
              <a:prstGeom prst="rect">
                <a:avLst/>
              </a:prstGeom>
              <a:blipFill>
                <a:blip r:embed="rId2"/>
                <a:stretch>
                  <a:fillRect l="-687" t="-3125" r="-229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6126480" y="1234440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1316736"/>
            <a:ext cx="5321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2  Saturation accuracy exceeds parameter accuracy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245352" y="1974584"/>
                <a:ext cx="532180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Even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error</m:t>
                        </m:r>
                      </m:sub>
                    </m:sSub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, the saturation field L2 error is below 0.05-0.07. The network compensates with a good field even for a slightly wrong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52" y="1974584"/>
                <a:ext cx="5321808" cy="830997"/>
              </a:xfrm>
              <a:prstGeom prst="rect">
                <a:avLst/>
              </a:prstGeom>
              <a:blipFill>
                <a:blip r:embed="rId3"/>
                <a:stretch>
                  <a:fillRect l="-687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74320" y="3017520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" y="309981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3  Data efficiency threshold around N=50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93192" y="3465576"/>
                <a:ext cx="532180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Approximately 50 sensor observations achieve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parameter error. Doubling to 100 gives less than 1% additional improvement. Rule of thumb: one sensor per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of the spatial domain.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65576"/>
                <a:ext cx="5321808" cy="1077218"/>
              </a:xfrm>
              <a:prstGeom prst="rect">
                <a:avLst/>
              </a:prstGeom>
              <a:blipFill>
                <a:blip r:embed="rId4"/>
                <a:stretch>
                  <a:fillRect l="-687" t="-1705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6126480" y="3017520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309981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4  Robustness limit: 20%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3465576"/>
            <a:ext cx="53218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Stable recovery across 0-20% noise. The 50% failure is an extreme case (SNR &lt; 1). Noise regularization or smoothing sensor data would extend this range.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00600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488289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5  Vanishing viscosity is non-negotiable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93192" y="5355274"/>
                <a:ext cx="532180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Without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, PDE loss diverges near the shock and training fails.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0035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corresponds to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grid cells of smoothing.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355274"/>
                <a:ext cx="5321808" cy="830997"/>
              </a:xfrm>
              <a:prstGeom prst="rect">
                <a:avLst/>
              </a:prstGeom>
              <a:blipFill>
                <a:blip r:embed="rId5"/>
                <a:stretch>
                  <a:fillRect l="-687" t="-2190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6126480" y="4800600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5352" y="488289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6  L-BFGS matters for M convergence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245352" y="5378333"/>
                <a:ext cx="5321808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Adam finds a good basin; L-BFGS provides the final convergence. Without L-BFGS,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estimated</m:t>
                        </m:r>
                      </m:sub>
                    </m:sSub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typically has 5-8% more error.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52" y="5378333"/>
                <a:ext cx="5321808" cy="848566"/>
              </a:xfrm>
              <a:prstGeom prst="rect">
                <a:avLst/>
              </a:prstGeom>
              <a:blipFill>
                <a:blip r:embed="rId6"/>
                <a:stretch>
                  <a:fillRect l="-687" t="-2158" b="-8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3692" y="46177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C2331"/>
                </a:solidFill>
                <a:latin typeface="Georgia"/>
              </a:rPr>
              <a:t>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Grandview Display"/>
              </a:rPr>
              <a:t>Congress of the Kazakhstan Mathematical Society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31673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Vanishing viscosity annealing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3192" y="1682496"/>
                <a:ext cx="532180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Gradually reduce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b="0" i="1" dirty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during training (curriculum strategy). Recover the true inviscid BL solution in the limit. Preliminary results suggest 5-8% further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accuracy gain.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82496"/>
                <a:ext cx="5321808" cy="1077218"/>
              </a:xfrm>
              <a:prstGeom prst="rect">
                <a:avLst/>
              </a:prstGeom>
              <a:blipFill>
                <a:blip r:embed="rId2"/>
                <a:stretch>
                  <a:fillRect l="-687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6126480" y="1234440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131673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Bayesian inverse PINN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245352" y="1769563"/>
                <a:ext cx="5321808" cy="835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Treat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as a random variable with prior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dirty="0">
                            <a:solidFill>
                              <a:srgbClr val="1C233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b="0" i="1" dirty="0">
                                <a:solidFill>
                                  <a:srgbClr val="1C233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. Posterior over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 quantifies uncertainty from sparse data. Critical for risk-aware subsurface decisions.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52" y="1769563"/>
                <a:ext cx="5321808" cy="835870"/>
              </a:xfrm>
              <a:prstGeom prst="rect">
                <a:avLst/>
              </a:prstGeom>
              <a:blipFill>
                <a:blip r:embed="rId3"/>
                <a:stretch>
                  <a:fillRect l="-687" t="-2190" r="-344" b="-8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74320" y="3026664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" y="3108960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Multi-parameter identification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93192" y="3607904"/>
                <a:ext cx="532180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Extend to simultaneously identify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, relative permeability exponents, and injection rate from production history data. More realistic history matching scenario.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07904"/>
                <a:ext cx="5321808" cy="830997"/>
              </a:xfrm>
              <a:prstGeom prst="rect">
                <a:avLst/>
              </a:prstGeom>
              <a:blipFill>
                <a:blip r:embed="rId4"/>
                <a:stretch>
                  <a:fillRect l="-687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6126480" y="3026664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3108960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Real field data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3603843"/>
            <a:ext cx="53218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Apply to synthetic well-log saturation data with realistic spatial heterogeneity (layered permeability). Test transfer learning from synthetic pre-training.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18888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4901184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2D / multi-dimensional extension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5408960"/>
            <a:ext cx="53218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C2331"/>
                </a:solidFill>
                <a:latin typeface="Grandview Display"/>
              </a:rPr>
              <a:t>Buckley-Leverett in 2D with gravity: richer shock structures. Requires domain decomposition PINN (</a:t>
            </a:r>
            <a:r>
              <a:rPr sz="1600" b="0" i="0" dirty="0" err="1">
                <a:solidFill>
                  <a:srgbClr val="1C2331"/>
                </a:solidFill>
                <a:latin typeface="Grandview Display"/>
              </a:rPr>
              <a:t>cPINN</a:t>
            </a:r>
            <a:r>
              <a:rPr sz="1600" b="0" i="0" dirty="0">
                <a:solidFill>
                  <a:srgbClr val="1C2331"/>
                </a:solidFill>
                <a:latin typeface="Grandview Display"/>
              </a:rPr>
              <a:t> / XPINN) for scalability.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818888"/>
            <a:ext cx="54864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5352" y="4901184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766E"/>
                </a:solidFill>
                <a:latin typeface="Georgia"/>
              </a:rPr>
              <a:t>Ensemble and active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245352" y="5266944"/>
                <a:ext cx="532180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Train ensemble of PINNs to quantify epistemic uncertainty. Use active learning to select maximally informative sensor locations. Optimal sensor placement could halve required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C233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600" b="0" i="0" dirty="0">
                    <a:solidFill>
                      <a:srgbClr val="1C2331"/>
                    </a:solidFill>
                    <a:latin typeface="Grandview Display"/>
                  </a:rPr>
                  <a:t>.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52" y="5266944"/>
                <a:ext cx="5321808" cy="1077218"/>
              </a:xfrm>
              <a:prstGeom prst="rect">
                <a:avLst/>
              </a:prstGeom>
              <a:blipFill>
                <a:blip r:embed="rId5"/>
                <a:stretch>
                  <a:fillRect l="-687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EF497-8DEC-45C5-8A62-FA196ED8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42" y="716669"/>
            <a:ext cx="10833741" cy="54246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64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latin typeface="Georgia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15214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16128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latin typeface="Grandview Display"/>
              </a:rPr>
              <a:t>Congress of the Kazakhstan Mathematical Society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latin typeface="Georgia"/>
              </a:rPr>
              <a:t>[1] Buckley and Leverett (1942)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Grandview Display"/>
              </a:rPr>
              <a:t>Mechanism of fluid displacement in sands. Transactions of the AIME, 146, 107-116.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latin typeface="Georgia"/>
              </a:rPr>
              <a:t>[2] Raissi, Perdikaris and Karniadakis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70632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Grandview Display"/>
              </a:rPr>
              <a:t>Physics-informed neural networks: A deep learning framework for solving forward and inverse problems involving nonlinear PDEs. J. </a:t>
            </a:r>
            <a:r>
              <a:rPr sz="1200" b="0" i="0" dirty="0" err="1">
                <a:latin typeface="Grandview Display"/>
              </a:rPr>
              <a:t>Comput</a:t>
            </a:r>
            <a:r>
              <a:rPr sz="1200" b="0" i="0" dirty="0">
                <a:latin typeface="Grandview Display"/>
              </a:rPr>
              <a:t>. Phys., 378, 686-707.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latin typeface="Georgia"/>
              </a:rPr>
              <a:t>[3] Jagtap, Kharazmi and Karniadakis (2020)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59352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Grandview Display"/>
              </a:rPr>
              <a:t>Conservative physics-informed neural networks on discrete domains for conservation laws: Applications to forward and inverse problems. CMAME, 365, 113028.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latin typeface="Georgia"/>
              </a:rPr>
              <a:t>[4] Coutinho et al. (2023)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48072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Grandview Display"/>
              </a:rPr>
              <a:t>Physics-informed neural networks with adaptive localized artificial viscosity. J. </a:t>
            </a:r>
            <a:r>
              <a:rPr sz="1200" b="0" i="0" dirty="0" err="1">
                <a:latin typeface="Grandview Display"/>
              </a:rPr>
              <a:t>Comput</a:t>
            </a:r>
            <a:r>
              <a:rPr sz="1200" b="0" i="0" dirty="0">
                <a:latin typeface="Grandview Display"/>
              </a:rPr>
              <a:t>. Phys., 489, 112265.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2236</Words>
  <Application>Microsoft Office PowerPoint</Application>
  <PresentationFormat>Custom</PresentationFormat>
  <Paragraphs>169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Georgia</vt:lpstr>
      <vt:lpstr>Grandview Display</vt:lpstr>
      <vt:lpstr>Times New Roman</vt:lpstr>
      <vt:lpstr>Office Theme</vt:lpstr>
      <vt:lpstr>Viscosity Ratio Identification in the Buckley-Leverett Model Using PINN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attention! Questions?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Bekele Samson Dawit</cp:lastModifiedBy>
  <cp:revision>15</cp:revision>
  <dcterms:created xsi:type="dcterms:W3CDTF">2013-01-27T09:14:16Z</dcterms:created>
  <dcterms:modified xsi:type="dcterms:W3CDTF">2026-04-03T13:34:26Z</dcterms:modified>
  <cp:category/>
</cp:coreProperties>
</file>