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83" r:id="rId3"/>
    <p:sldId id="284" r:id="rId4"/>
    <p:sldId id="285" r:id="rId5"/>
    <p:sldId id="286" r:id="rId6"/>
    <p:sldId id="287" r:id="rId7"/>
    <p:sldId id="288" r:id="rId8"/>
    <p:sldId id="289" r:id="rId9"/>
    <p:sldId id="290" r:id="rId10"/>
    <p:sldId id="291" r:id="rId11"/>
    <p:sldId id="292" r:id="rId12"/>
    <p:sldId id="293" r:id="rId13"/>
    <p:sldId id="294" r:id="rId14"/>
    <p:sldId id="295" r:id="rId15"/>
    <p:sldId id="296" r:id="rId16"/>
    <p:sldId id="297" r:id="rId1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66E"/>
    <a:srgbClr val="D977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120" d="100"/>
          <a:sy n="120" d="100"/>
        </p:scale>
        <p:origin x="198"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D56000-C5F8-491F-9D87-B0579DF622A0}"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90E5EF-5B4A-4895-829B-BD493B0BC9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Пользовательский маке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1004" y="993199"/>
            <a:ext cx="10833741" cy="5426075"/>
          </a:xfrm>
        </p:spPr>
        <p:txBody>
          <a:bodyPr>
            <a:normAutofit/>
          </a:bodyPr>
          <a:lstStyle>
            <a:lvl1pPr>
              <a:defRPr sz="3600">
                <a:latin typeface="Arial" panose="020B0604020202020204" pitchFamily="34" charset="0"/>
                <a:cs typeface="Arial" panose="020B0604020202020204" pitchFamily="34" charset="0"/>
              </a:defRPr>
            </a:lvl1pPr>
          </a:lstStyle>
          <a:p>
            <a:r>
              <a:rPr lang="ru-RU" dirty="0"/>
              <a:t>Образец заголовка</a:t>
            </a:r>
            <a:endParaRPr lang="ru-RU"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ctrTitle"/>
          </p:nvPr>
        </p:nvSpPr>
        <p:spPr/>
        <p:txBody>
          <a:bodyPr/>
          <a:p>
            <a:r>
              <a:rPr lang="" altLang="en-US"/>
              <a:t>ECCOMAS-Style HVAC RL Presentation</a:t>
            </a:r>
            <a:endParaRPr lang="" altLang="en-US"/>
          </a:p>
        </p:txBody>
      </p:sp>
      <p:sp>
        <p:nvSpPr>
          <p:cNvPr id="3" name="Подзаголовок 2"/>
          <p:cNvSpPr>
            <a:spLocks noGrp="1"/>
          </p:cNvSpPr>
          <p:nvPr>
            <p:ph type="subTitle" idx="1"/>
          </p:nvPr>
        </p:nvSpPr>
        <p:spPr/>
        <p:txBody>
          <a:bodyPr/>
          <a:p>
            <a:endParaRPr lang="ru-RU" altLang="en-US"/>
          </a:p>
        </p:txBody>
      </p:sp>
      <p:sp>
        <p:nvSpPr>
          <p:cNvPr id="4" name="Текстовое поле 3"/>
          <p:cNvSpPr txBox="1"/>
          <p:nvPr/>
        </p:nvSpPr>
        <p:spPr>
          <a:xfrm>
            <a:off x="889000" y="2159000"/>
            <a:ext cx="9906000" cy="1568450"/>
          </a:xfrm>
          <a:prstGeom prst="rect">
            <a:avLst/>
          </a:prstGeom>
          <a:noFill/>
        </p:spPr>
        <p:txBody>
          <a:bodyPr wrap="square" rtlCol="0" anchor="t">
            <a:spAutoFit/>
          </a:bodyPr>
          <a:p>
            <a:r>
              <a:rPr lang="" altLang="en-US" sz="2400">
                <a:latin typeface="Calibri" panose="020F0502020204030204" charset="0"/>
                <a:cs typeface="Calibri" panose="020F0502020204030204" charset="0"/>
              </a:rPr>
              <a:t>Corrected Legacy Sinergym Pipeline and Surrogate Digital Twin Validation
Theme: physically meaningful MORL control with corrected observation/action semantics, gaussian reward shaping, and RBC-guided warm-start.</a:t>
            </a:r>
            <a:endParaRPr lang="" altLang="en-US" sz="2400">
              <a:latin typeface="Calibri" panose="020F0502020204030204" charset="0"/>
              <a:cs typeface="Calibri" panose="020F0502020204030204" charset="0"/>
            </a:endParaRPr>
          </a:p>
        </p:txBody>
      </p:sp>
      <p:sp>
        <p:nvSpPr>
          <p:cNvPr id="5" name="Текстовое поле 4"/>
          <p:cNvSpPr txBox="1"/>
          <p:nvPr/>
        </p:nvSpPr>
        <p:spPr>
          <a:xfrm>
            <a:off x="889000" y="4635500"/>
            <a:ext cx="10033000" cy="614045"/>
          </a:xfrm>
          <a:prstGeom prst="rect">
            <a:avLst/>
          </a:prstGeom>
          <a:noFill/>
        </p:spPr>
        <p:txBody>
          <a:bodyPr wrap="square" rtlCol="0" anchor="t">
            <a:spAutoFit/>
          </a:bodyPr>
          <a:p>
            <a:r>
              <a:rPr lang="" altLang="en-US" sz="1700">
                <a:latin typeface="Calibri" panose="020F0502020204030204" charset="0"/>
                <a:cs typeface="Calibri" panose="020F0502020204030204" charset="0"/>
              </a:rPr>
              <a:t>Conference-style summary of the corrected legacy Sinergym branch and the surrogate digital twin validation pipeline. Focus: the architectural idea encoded in sinergym_backend.py and the resulting live metrics.</a:t>
            </a:r>
            <a:endParaRPr lang="" altLang="en-US" sz="1700">
              <a:latin typeface="Calibri" panose="020F0502020204030204" charset="0"/>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ArticleRus Benchmark and Research Question</a:t>
            </a:r>
            <a:endParaRPr lang="" altLang="en-US"/>
          </a:p>
        </p:txBody>
      </p:sp>
      <p:sp>
        <p:nvSpPr>
          <p:cNvPr id="3" name="Замещающее содержимое 2"/>
          <p:cNvSpPr>
            <a:spLocks noGrp="1"/>
          </p:cNvSpPr>
          <p:nvPr>
            <p:ph idx="1"/>
          </p:nvPr>
        </p:nvSpPr>
        <p:spPr/>
        <p:txBody>
          <a:bodyPr/>
          <a:p>
            <a:r>
              <a:rPr lang="" altLang="en-US" sz="1900"/>
              <a:t>ArticleRus defines the thesis-era benchmark we want to match or exceed:
- mean HVAC power reduced from ~480-500 W to ~410-420 W
- mean comfort penalty reduced from ~2.3 to ~1.8
- 95th percentile comfort penalty reduced from ~1.21 to ~0.42
- smoother indoor thermal dynamics under RL than under baseline strategies
Our contribution in this deck:
- rebuild the legacy Sinergym branch into an honest live pipeline
- explain the corrected backend architecture
- show the current live gap to the thesis target
- validate the surrogate digital twin against BOPTEST comfort-oriented traces</a:t>
            </a:r>
            <a:endParaRPr lang="" altLang="en-US" sz="1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Unified Research Pipeline</a:t>
            </a:r>
            <a:endParaRPr lang="" altLang="en-US"/>
          </a:p>
        </p:txBody>
      </p:sp>
      <p:sp>
        <p:nvSpPr>
          <p:cNvPr id="3" name="Замещающий текст 2"/>
          <p:cNvSpPr>
            <a:spLocks noGrp="1"/>
          </p:cNvSpPr>
          <p:nvPr>
            <p:ph type="body" idx="1"/>
          </p:nvPr>
        </p:nvSpPr>
        <p:spPr/>
        <p:txBody>
          <a:bodyPr/>
          <a:p>
            <a:endParaRPr lang="ru-RU" altLang="en-US"/>
          </a:p>
        </p:txBody>
      </p:sp>
      <p:sp>
        <p:nvSpPr>
          <p:cNvPr id="4" name="Замещающее содержимое 3"/>
          <p:cNvSpPr>
            <a:spLocks noGrp="1"/>
          </p:cNvSpPr>
          <p:nvPr>
            <p:ph sz="half" idx="2"/>
          </p:nvPr>
        </p:nvSpPr>
        <p:spPr/>
        <p:txBody>
          <a:bodyPr/>
          <a:p>
            <a:endParaRPr lang="ru-RU" altLang="en-US"/>
          </a:p>
        </p:txBody>
      </p:sp>
      <p:sp>
        <p:nvSpPr>
          <p:cNvPr id="5" name="Замещающий текст 4"/>
          <p:cNvSpPr>
            <a:spLocks noGrp="1"/>
          </p:cNvSpPr>
          <p:nvPr>
            <p:ph type="body" sz="quarter" idx="3"/>
          </p:nvPr>
        </p:nvSpPr>
        <p:spPr/>
        <p:txBody>
          <a:bodyPr/>
          <a:p>
            <a:endParaRPr lang="ru-RU" altLang="en-US"/>
          </a:p>
        </p:txBody>
      </p:sp>
      <p:sp>
        <p:nvSpPr>
          <p:cNvPr id="6" name="Замещающее содержимое 5"/>
          <p:cNvSpPr>
            <a:spLocks noGrp="1"/>
          </p:cNvSpPr>
          <p:nvPr>
            <p:ph sz="quarter" idx="4"/>
          </p:nvPr>
        </p:nvSpPr>
        <p:spPr/>
        <p:txBody>
          <a:bodyPr/>
          <a:p>
            <a:endParaRPr lang="ru-RU" altLang="en-US"/>
          </a:p>
        </p:txBody>
      </p:sp>
      <p:sp>
        <p:nvSpPr>
          <p:cNvPr id="7" name="Текстовое поле 6"/>
          <p:cNvSpPr txBox="1"/>
          <p:nvPr/>
        </p:nvSpPr>
        <p:spPr>
          <a:xfrm>
            <a:off x="508000" y="1397000"/>
            <a:ext cx="2222500" cy="1476375"/>
          </a:xfrm>
          <a:prstGeom prst="rect">
            <a:avLst/>
          </a:prstGeom>
          <a:solidFill>
            <a:srgbClr val="F7F7F7"/>
          </a:solidFill>
          <a:ln>
            <a:noFill/>
          </a:ln>
        </p:spPr>
        <p:txBody>
          <a:bodyPr wrap="square" rtlCol="0" anchor="t">
            <a:spAutoFit/>
          </a:bodyPr>
          <a:p>
            <a:r>
              <a:rPr lang="" altLang="en-US">
                <a:latin typeface="Calibri" panose="020F0502020204030204" charset="0"/>
                <a:cs typeface="Calibri" panose="020F0502020204030204" charset="0"/>
              </a:rPr>
              <a:t>1. Legacy Sinergym
EnergyPlus 5-zone building
Corrected backend semantics</a:t>
            </a:r>
            <a:endParaRPr lang="" altLang="en-US">
              <a:latin typeface="Calibri" panose="020F0502020204030204" charset="0"/>
              <a:cs typeface="Calibri" panose="020F0502020204030204" charset="0"/>
            </a:endParaRPr>
          </a:p>
        </p:txBody>
      </p:sp>
      <p:sp>
        <p:nvSpPr>
          <p:cNvPr id="8" name="Текстовое поле 7"/>
          <p:cNvSpPr txBox="1"/>
          <p:nvPr/>
        </p:nvSpPr>
        <p:spPr>
          <a:xfrm>
            <a:off x="3238500" y="1397000"/>
            <a:ext cx="2222500" cy="1198880"/>
          </a:xfrm>
          <a:prstGeom prst="rect">
            <a:avLst/>
          </a:prstGeom>
          <a:solidFill>
            <a:srgbClr val="F7F7F7"/>
          </a:solidFill>
          <a:ln>
            <a:noFill/>
          </a:ln>
        </p:spPr>
        <p:txBody>
          <a:bodyPr wrap="square" rtlCol="0" anchor="t">
            <a:spAutoFit/>
          </a:bodyPr>
          <a:p>
            <a:r>
              <a:rPr lang="" altLang="en-US">
                <a:latin typeface="Calibri" panose="020F0502020204030204" charset="0"/>
                <a:cs typeface="Calibri" panose="020F0502020204030204" charset="0"/>
              </a:rPr>
              <a:t>2. MORL PPO
Gaussian reward
BC warm-start from RBC</a:t>
            </a:r>
            <a:endParaRPr lang="" altLang="en-US">
              <a:latin typeface="Calibri" panose="020F0502020204030204" charset="0"/>
              <a:cs typeface="Calibri" panose="020F0502020204030204" charset="0"/>
            </a:endParaRPr>
          </a:p>
        </p:txBody>
      </p:sp>
      <p:sp>
        <p:nvSpPr>
          <p:cNvPr id="9" name="Текстовое поле 8"/>
          <p:cNvSpPr txBox="1"/>
          <p:nvPr/>
        </p:nvSpPr>
        <p:spPr>
          <a:xfrm>
            <a:off x="5969000" y="1397000"/>
            <a:ext cx="2222500" cy="1476375"/>
          </a:xfrm>
          <a:prstGeom prst="rect">
            <a:avLst/>
          </a:prstGeom>
          <a:solidFill>
            <a:srgbClr val="F7F7F7"/>
          </a:solidFill>
          <a:ln>
            <a:noFill/>
          </a:ln>
        </p:spPr>
        <p:txBody>
          <a:bodyPr wrap="square" rtlCol="0" anchor="t">
            <a:spAutoFit/>
          </a:bodyPr>
          <a:p>
            <a:r>
              <a:rPr lang="" altLang="en-US">
                <a:latin typeface="Calibri" panose="020F0502020204030204" charset="0"/>
                <a:cs typeface="Calibri" panose="020F0502020204030204" charset="0"/>
              </a:rPr>
              <a:t>3. Live Evaluation
Power / comfort / trajectory
PPO vs RBC vs baselines</a:t>
            </a:r>
            <a:endParaRPr lang="" altLang="en-US">
              <a:latin typeface="Calibri" panose="020F0502020204030204" charset="0"/>
              <a:cs typeface="Calibri" panose="020F0502020204030204" charset="0"/>
            </a:endParaRPr>
          </a:p>
        </p:txBody>
      </p:sp>
      <p:sp>
        <p:nvSpPr>
          <p:cNvPr id="10" name="Текстовое поле 9"/>
          <p:cNvSpPr txBox="1"/>
          <p:nvPr/>
        </p:nvSpPr>
        <p:spPr>
          <a:xfrm>
            <a:off x="8699500" y="1397000"/>
            <a:ext cx="2222500" cy="1476375"/>
          </a:xfrm>
          <a:prstGeom prst="rect">
            <a:avLst/>
          </a:prstGeom>
          <a:solidFill>
            <a:srgbClr val="F7F7F7"/>
          </a:solidFill>
          <a:ln>
            <a:noFill/>
          </a:ln>
        </p:spPr>
        <p:txBody>
          <a:bodyPr wrap="square" rtlCol="0" anchor="t">
            <a:spAutoFit/>
          </a:bodyPr>
          <a:p>
            <a:r>
              <a:rPr lang="" altLang="en-US">
                <a:latin typeface="Calibri" panose="020F0502020204030204" charset="0"/>
                <a:cs typeface="Calibri" panose="020F0502020204030204" charset="0"/>
              </a:rPr>
              <a:t>4. Digital Twin
Surrogate replay on BOPTEST traces
Parity and yearly validation</a:t>
            </a:r>
            <a:endParaRPr lang="" altLang="en-US">
              <a:latin typeface="Calibri" panose="020F0502020204030204" charset="0"/>
              <a:cs typeface="Calibri" panose="020F0502020204030204" charset="0"/>
            </a:endParaRPr>
          </a:p>
        </p:txBody>
      </p:sp>
      <p:sp>
        <p:nvSpPr>
          <p:cNvPr id="11" name="Текстовое поле 10"/>
          <p:cNvSpPr txBox="1"/>
          <p:nvPr/>
        </p:nvSpPr>
        <p:spPr>
          <a:xfrm>
            <a:off x="2730500" y="1905000"/>
            <a:ext cx="508000" cy="891540"/>
          </a:xfrm>
          <a:prstGeom prst="rect">
            <a:avLst/>
          </a:prstGeom>
          <a:noFill/>
        </p:spPr>
        <p:txBody>
          <a:bodyPr wrap="square" rtlCol="0" anchor="t">
            <a:spAutoFit/>
          </a:bodyPr>
          <a:p>
            <a:r>
              <a:rPr lang="" altLang="en-US" sz="2600" b="1">
                <a:latin typeface="Calibri" panose="020F0502020204030204" charset="0"/>
                <a:cs typeface="Calibri" panose="020F0502020204030204" charset="0"/>
              </a:rPr>
              <a:t>в†’</a:t>
            </a:r>
            <a:endParaRPr lang="" altLang="en-US" sz="2600" b="1">
              <a:latin typeface="Calibri" panose="020F0502020204030204" charset="0"/>
              <a:cs typeface="Calibri" panose="020F0502020204030204" charset="0"/>
            </a:endParaRPr>
          </a:p>
        </p:txBody>
      </p:sp>
      <p:sp>
        <p:nvSpPr>
          <p:cNvPr id="12" name="Текстовое поле 11"/>
          <p:cNvSpPr txBox="1"/>
          <p:nvPr/>
        </p:nvSpPr>
        <p:spPr>
          <a:xfrm>
            <a:off x="3111500" y="1930400"/>
            <a:ext cx="1143000" cy="291465"/>
          </a:xfrm>
          <a:prstGeom prst="rect">
            <a:avLst/>
          </a:prstGeom>
          <a:noFill/>
        </p:spPr>
        <p:txBody>
          <a:bodyPr wrap="square" rtlCol="0" anchor="t">
            <a:spAutoFit/>
          </a:bodyPr>
          <a:p>
            <a:endParaRPr lang="ru-RU" altLang="en-US" sz="1300">
              <a:latin typeface="Calibri" panose="020F0502020204030204" charset="0"/>
              <a:cs typeface="Calibri" panose="020F0502020204030204" charset="0"/>
            </a:endParaRPr>
          </a:p>
        </p:txBody>
      </p:sp>
      <p:sp>
        <p:nvSpPr>
          <p:cNvPr id="13" name="Текстовое поле 12"/>
          <p:cNvSpPr txBox="1"/>
          <p:nvPr/>
        </p:nvSpPr>
        <p:spPr>
          <a:xfrm>
            <a:off x="5461000" y="1905000"/>
            <a:ext cx="508000" cy="891540"/>
          </a:xfrm>
          <a:prstGeom prst="rect">
            <a:avLst/>
          </a:prstGeom>
          <a:noFill/>
        </p:spPr>
        <p:txBody>
          <a:bodyPr wrap="square" rtlCol="0" anchor="t">
            <a:spAutoFit/>
          </a:bodyPr>
          <a:p>
            <a:r>
              <a:rPr lang="" altLang="en-US" sz="2600" b="1">
                <a:latin typeface="Calibri" panose="020F0502020204030204" charset="0"/>
                <a:cs typeface="Calibri" panose="020F0502020204030204" charset="0"/>
              </a:rPr>
              <a:t>в†’</a:t>
            </a:r>
            <a:endParaRPr lang="" altLang="en-US" sz="2600" b="1">
              <a:latin typeface="Calibri" panose="020F0502020204030204" charset="0"/>
              <a:cs typeface="Calibri" panose="020F0502020204030204" charset="0"/>
            </a:endParaRPr>
          </a:p>
        </p:txBody>
      </p:sp>
      <p:sp>
        <p:nvSpPr>
          <p:cNvPr id="14" name="Текстовое поле 13"/>
          <p:cNvSpPr txBox="1"/>
          <p:nvPr/>
        </p:nvSpPr>
        <p:spPr>
          <a:xfrm>
            <a:off x="5842000" y="1930400"/>
            <a:ext cx="1143000" cy="291465"/>
          </a:xfrm>
          <a:prstGeom prst="rect">
            <a:avLst/>
          </a:prstGeom>
          <a:noFill/>
        </p:spPr>
        <p:txBody>
          <a:bodyPr wrap="square" rtlCol="0" anchor="t">
            <a:spAutoFit/>
          </a:bodyPr>
          <a:p>
            <a:endParaRPr lang="ru-RU" altLang="en-US" sz="1300">
              <a:latin typeface="Calibri" panose="020F0502020204030204" charset="0"/>
              <a:cs typeface="Calibri" panose="020F0502020204030204" charset="0"/>
            </a:endParaRPr>
          </a:p>
        </p:txBody>
      </p:sp>
      <p:sp>
        <p:nvSpPr>
          <p:cNvPr id="15" name="Текстовое поле 14"/>
          <p:cNvSpPr txBox="1"/>
          <p:nvPr/>
        </p:nvSpPr>
        <p:spPr>
          <a:xfrm>
            <a:off x="8191500" y="1905000"/>
            <a:ext cx="508000" cy="891540"/>
          </a:xfrm>
          <a:prstGeom prst="rect">
            <a:avLst/>
          </a:prstGeom>
          <a:noFill/>
        </p:spPr>
        <p:txBody>
          <a:bodyPr wrap="square" rtlCol="0" anchor="t">
            <a:spAutoFit/>
          </a:bodyPr>
          <a:p>
            <a:r>
              <a:rPr lang="" altLang="en-US" sz="2600" b="1">
                <a:latin typeface="Calibri" panose="020F0502020204030204" charset="0"/>
                <a:cs typeface="Calibri" panose="020F0502020204030204" charset="0"/>
              </a:rPr>
              <a:t>в†’</a:t>
            </a:r>
            <a:endParaRPr lang="" altLang="en-US" sz="2600" b="1">
              <a:latin typeface="Calibri" panose="020F0502020204030204" charset="0"/>
              <a:cs typeface="Calibri" panose="020F0502020204030204" charset="0"/>
            </a:endParaRPr>
          </a:p>
        </p:txBody>
      </p:sp>
      <p:sp>
        <p:nvSpPr>
          <p:cNvPr id="16" name="Текстовое поле 15"/>
          <p:cNvSpPr txBox="1"/>
          <p:nvPr/>
        </p:nvSpPr>
        <p:spPr>
          <a:xfrm>
            <a:off x="8572500" y="1930400"/>
            <a:ext cx="1143000" cy="291465"/>
          </a:xfrm>
          <a:prstGeom prst="rect">
            <a:avLst/>
          </a:prstGeom>
          <a:noFill/>
        </p:spPr>
        <p:txBody>
          <a:bodyPr wrap="square" rtlCol="0" anchor="t">
            <a:spAutoFit/>
          </a:bodyPr>
          <a:p>
            <a:endParaRPr lang="ru-RU" altLang="en-US" sz="1300">
              <a:latin typeface="Calibri" panose="020F0502020204030204" charset="0"/>
              <a:cs typeface="Calibri" panose="020F0502020204030204" charset="0"/>
            </a:endParaRPr>
          </a:p>
        </p:txBody>
      </p:sp>
      <p:sp>
        <p:nvSpPr>
          <p:cNvPr id="17" name="Текстовое поле 16"/>
          <p:cNvSpPr txBox="1"/>
          <p:nvPr/>
        </p:nvSpPr>
        <p:spPr>
          <a:xfrm>
            <a:off x="635000" y="3556000"/>
            <a:ext cx="10414000" cy="1014730"/>
          </a:xfrm>
          <a:prstGeom prst="rect">
            <a:avLst/>
          </a:prstGeom>
          <a:noFill/>
        </p:spPr>
        <p:txBody>
          <a:bodyPr wrap="square" rtlCol="0" anchor="t">
            <a:spAutoFit/>
          </a:bodyPr>
          <a:p>
            <a:r>
              <a:rPr lang="" altLang="en-US" sz="2000">
                <a:latin typeface="Calibri" panose="020F0502020204030204" charset="0"/>
                <a:cs typeface="Calibri" panose="020F0502020204030204" charset="0"/>
              </a:rPr>
              <a:t>The presentation follows this chain end-to-end: we first repair the legacy control environment, then optimize PPO under a multi-objective reward, and finally validate the surrogate digital twin on comfort-oriented BOPTEST traces exported from the MORL/PPO pipeline.</a:t>
            </a:r>
            <a:endParaRPr lang="" altLang="en-US" sz="2000">
              <a:latin typeface="Calibri" panose="020F0502020204030204" charset="0"/>
              <a:cs typeface="Calibri" panose="020F05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Core Idea Encoded in sinergym_backend.py</a:t>
            </a:r>
            <a:endParaRPr lang="" altLang="en-US"/>
          </a:p>
        </p:txBody>
      </p:sp>
      <p:sp>
        <p:nvSpPr>
          <p:cNvPr id="3" name="Замещающее содержимое 2"/>
          <p:cNvSpPr>
            <a:spLocks noGrp="1"/>
          </p:cNvSpPr>
          <p:nvPr>
            <p:ph sz="half" idx="1"/>
          </p:nvPr>
        </p:nvSpPr>
        <p:spPr/>
        <p:txBody>
          <a:bodyPr/>
          <a:p>
            <a:endParaRPr lang="ru-RU" altLang="en-US"/>
          </a:p>
        </p:txBody>
      </p:sp>
      <p:sp>
        <p:nvSpPr>
          <p:cNvPr id="4" name="Замещающее содержимое 3"/>
          <p:cNvSpPr>
            <a:spLocks noGrp="1"/>
          </p:cNvSpPr>
          <p:nvPr>
            <p:ph sz="half" idx="2"/>
          </p:nvPr>
        </p:nvSpPr>
        <p:spPr/>
        <p:txBody>
          <a:bodyPr/>
          <a:p>
            <a:endParaRPr lang="ru-RU" altLang="en-US"/>
          </a:p>
        </p:txBody>
      </p:sp>
      <p:sp>
        <p:nvSpPr>
          <p:cNvPr id="5" name="Текстовое поле 4"/>
          <p:cNvSpPr txBox="1"/>
          <p:nvPr/>
        </p:nvSpPr>
        <p:spPr>
          <a:xfrm>
            <a:off x="533400" y="1206500"/>
            <a:ext cx="4953000" cy="3599815"/>
          </a:xfrm>
          <a:prstGeom prst="rect">
            <a:avLst/>
          </a:prstGeom>
          <a:noFill/>
        </p:spPr>
        <p:txBody>
          <a:bodyPr wrap="square" rtlCol="0" anchor="t">
            <a:spAutoFit/>
          </a:bodyPr>
          <a:p>
            <a:r>
              <a:rPr lang="" altLang="en-US" sz="1900">
                <a:latin typeface="Calibri" panose="020F0502020204030204" charset="0"/>
                <a:cs typeface="Calibri" panose="020F0502020204030204" charset="0"/>
              </a:rPr>
              <a:t>The backend is the architectural center of the thesis branch:
- resolves physical variables by name
- computes MORL scalarization on top of physical state
- logs raw, limited, and executed actions
- connects wrappers, reward, and live evaluation into one reproducible path
This is why the corrected pipeline is trustworthy in a way the old article-style figures were not.</a:t>
            </a:r>
            <a:endParaRPr lang="" altLang="en-US" sz="1900">
              <a:latin typeface="Calibri" panose="020F0502020204030204" charset="0"/>
              <a:cs typeface="Calibri" panose="020F0502020204030204" charset="0"/>
            </a:endParaRPr>
          </a:p>
        </p:txBody>
      </p:sp>
      <p:sp>
        <p:nvSpPr>
          <p:cNvPr id="6" name="Текстовое поле 5"/>
          <p:cNvSpPr txBox="1"/>
          <p:nvPr/>
        </p:nvSpPr>
        <p:spPr>
          <a:xfrm>
            <a:off x="5969000" y="1244600"/>
            <a:ext cx="5207000" cy="2306955"/>
          </a:xfrm>
          <a:prstGeom prst="rect">
            <a:avLst/>
          </a:prstGeom>
          <a:solidFill>
            <a:srgbClr val="F2F2F2"/>
          </a:solidFill>
          <a:ln>
            <a:noFill/>
          </a:ln>
        </p:spPr>
        <p:txBody>
          <a:bodyPr wrap="square" rtlCol="0" anchor="t">
            <a:spAutoFit/>
          </a:bodyPr>
          <a:p>
            <a:r>
              <a:rPr lang="" altLang="en-US" sz="1200">
                <a:latin typeface="Consolas" panose="020B0609020204030204" charset="0"/>
                <a:cs typeface="Consolas" panose="020B0609020204030204" charset="0"/>
              </a:rPr>
              <a:t>temp_name = "Zone Air Temperature(SPACE1-1)"
energy_name = "Facility Total HVAC Electricity
Demand Rate(Whole Building)"
weights = MORLWeights(comfort=0.9, energy=0.1)
reward = MORLReward(
    reward_shape="gaussian",
    target_temp=22.0,
    gaussian_sigma=1.0,
    gaussian_offset=0.2,
    weights=weights,
)</a:t>
            </a:r>
            <a:endParaRPr lang="" altLang="en-US" sz="1200">
              <a:latin typeface="Consolas" panose="020B0609020204030204" charset="0"/>
              <a:cs typeface="Consolas" panose="020B0609020204030204" charset="0"/>
            </a:endParaRPr>
          </a:p>
        </p:txBody>
      </p:sp>
      <p:sp>
        <p:nvSpPr>
          <p:cNvPr id="7" name="Текстовое поле 6"/>
          <p:cNvSpPr txBox="1"/>
          <p:nvPr/>
        </p:nvSpPr>
        <p:spPr>
          <a:xfrm>
            <a:off x="5969000" y="4000500"/>
            <a:ext cx="5207000" cy="583565"/>
          </a:xfrm>
          <a:prstGeom prst="rect">
            <a:avLst/>
          </a:prstGeom>
          <a:solidFill>
            <a:srgbClr val="F7F7F7"/>
          </a:solidFill>
          <a:ln>
            <a:noFill/>
          </a:ln>
        </p:spPr>
        <p:txBody>
          <a:bodyPr wrap="square" rtlCol="0" anchor="t">
            <a:spAutoFit/>
          </a:bodyPr>
          <a:p>
            <a:r>
              <a:rPr lang="" altLang="en-US" sz="1600">
                <a:latin typeface="Calibri" panose="020F0502020204030204" charset="0"/>
                <a:cs typeface="Calibri" panose="020F0502020204030204" charset="0"/>
              </a:rPr>
              <a:t>Conference message: the contribution is not only a controller, but a corrected experimental infrastructure for HVAC RL.</a:t>
            </a:r>
            <a:endParaRPr lang="" altLang="en-US" sz="1600">
              <a:latin typeface="Calibri" panose="020F0502020204030204" charset="0"/>
              <a:cs typeface="Calibri" panose="020F0502020204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Step 1: Observation and Action Semantics</a:t>
            </a:r>
            <a:endParaRPr lang="" altLang="en-US"/>
          </a:p>
        </p:txBody>
      </p:sp>
      <p:sp>
        <p:nvSpPr>
          <p:cNvPr id="3" name="Замещающее содержимое 2"/>
          <p:cNvSpPr>
            <a:spLocks noGrp="1"/>
          </p:cNvSpPr>
          <p:nvPr>
            <p:ph sz="half" idx="1"/>
          </p:nvPr>
        </p:nvSpPr>
        <p:spPr/>
        <p:txBody>
          <a:bodyPr/>
          <a:p>
            <a:endParaRPr lang="ru-RU" altLang="en-US"/>
          </a:p>
        </p:txBody>
      </p:sp>
      <p:sp>
        <p:nvSpPr>
          <p:cNvPr id="4" name="Замещающее содержимое 3"/>
          <p:cNvSpPr>
            <a:spLocks noGrp="1"/>
          </p:cNvSpPr>
          <p:nvPr>
            <p:ph sz="half" idx="2"/>
          </p:nvPr>
        </p:nvSpPr>
        <p:spPr/>
        <p:txBody>
          <a:bodyPr/>
          <a:p>
            <a:endParaRPr lang="ru-RU" altLang="en-US"/>
          </a:p>
        </p:txBody>
      </p:sp>
      <p:sp>
        <p:nvSpPr>
          <p:cNvPr id="5" name="Текстовое поле 4"/>
          <p:cNvSpPr txBox="1"/>
          <p:nvPr/>
        </p:nvSpPr>
        <p:spPr>
          <a:xfrm>
            <a:off x="533400" y="1206500"/>
            <a:ext cx="4953000" cy="3599815"/>
          </a:xfrm>
          <a:prstGeom prst="rect">
            <a:avLst/>
          </a:prstGeom>
          <a:noFill/>
        </p:spPr>
        <p:txBody>
          <a:bodyPr wrap="square" rtlCol="0" anchor="t">
            <a:spAutoFit/>
          </a:bodyPr>
          <a:p>
            <a:r>
              <a:rPr lang="" altLang="en-US" sz="1900">
                <a:latin typeface="Calibri" panose="020F0502020204030204" charset="0"/>
                <a:cs typeface="Calibri" panose="020F0502020204030204" charset="0"/>
              </a:rPr>
              <a:t>Critical corrections:
- obs[10] = heating setpoint
- obs[11] = cooling setpoint
- obs[12] = real zone air temperature
- obs[16] = HVAC demand rate
Earlier legacy runs mistakenly optimized or reported comfort using setpoint-like channels. After fixing this, the branch became honest but much harder, which explains why our current metrics are higher than the thesis target.</a:t>
            </a:r>
            <a:endParaRPr lang="" altLang="en-US" sz="1900">
              <a:latin typeface="Calibri" panose="020F0502020204030204" charset="0"/>
              <a:cs typeface="Calibri" panose="020F0502020204030204" charset="0"/>
            </a:endParaRPr>
          </a:p>
        </p:txBody>
      </p:sp>
      <p:sp>
        <p:nvSpPr>
          <p:cNvPr id="6" name="Текстовое поле 5"/>
          <p:cNvSpPr txBox="1"/>
          <p:nvPr/>
        </p:nvSpPr>
        <p:spPr>
          <a:xfrm>
            <a:off x="5969000" y="1270000"/>
            <a:ext cx="5207000" cy="1753235"/>
          </a:xfrm>
          <a:prstGeom prst="rect">
            <a:avLst/>
          </a:prstGeom>
          <a:solidFill>
            <a:srgbClr val="F2F2F2"/>
          </a:solidFill>
          <a:ln>
            <a:noFill/>
          </a:ln>
        </p:spPr>
        <p:txBody>
          <a:bodyPr wrap="square" rtlCol="0" anchor="t">
            <a:spAutoFit/>
          </a:bodyPr>
          <a:p>
            <a:r>
              <a:rPr lang="" altLang="en-US" sz="1200">
                <a:latin typeface="Consolas" panose="020B0609020204030204" charset="0"/>
                <a:cs typeface="Consolas" panose="020B0609020204030204" charset="0"/>
              </a:rPr>
              <a:t>action_parameterization: "midpoint_gap"
normalize_action: true
rate_limit: true
safety: true
obs[10] -&gt; heating setpoint
obs[11] -&gt; cooling setpoint
obs[12] -&gt; zone air temperature
obs[16] -&gt; HVAC power</a:t>
            </a:r>
            <a:endParaRPr lang="" altLang="en-US" sz="1200">
              <a:latin typeface="Consolas" panose="020B0609020204030204" charset="0"/>
              <a:cs typeface="Consolas" panose="020B0609020204030204" charset="0"/>
            </a:endParaRPr>
          </a:p>
        </p:txBody>
      </p:sp>
      <p:sp>
        <p:nvSpPr>
          <p:cNvPr id="7" name="Текстовое поле 6"/>
          <p:cNvSpPr txBox="1"/>
          <p:nvPr/>
        </p:nvSpPr>
        <p:spPr>
          <a:xfrm>
            <a:off x="5969000" y="3873500"/>
            <a:ext cx="5207000" cy="583565"/>
          </a:xfrm>
          <a:prstGeom prst="rect">
            <a:avLst/>
          </a:prstGeom>
          <a:solidFill>
            <a:srgbClr val="F7F7F7"/>
          </a:solidFill>
          <a:ln>
            <a:noFill/>
          </a:ln>
        </p:spPr>
        <p:txBody>
          <a:bodyPr wrap="square" rtlCol="0" anchor="t">
            <a:spAutoFit/>
          </a:bodyPr>
          <a:p>
            <a:r>
              <a:rPr lang="" altLang="en-US" sz="1600">
                <a:latin typeface="Calibri" panose="020F0502020204030204" charset="0"/>
                <a:cs typeface="Calibri" panose="020F0502020204030204" charset="0"/>
              </a:rPr>
              <a:t>The midpoint-gap parameterization makes actions valid by construction and greatly reduces wrapper-induced distortion.</a:t>
            </a:r>
            <a:endParaRPr lang="" altLang="en-US" sz="1600">
              <a:latin typeface="Calibri" panose="020F0502020204030204" charset="0"/>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Step 2: MORL Reward Design</a:t>
            </a:r>
            <a:endParaRPr lang="" altLang="en-US"/>
          </a:p>
        </p:txBody>
      </p:sp>
      <p:sp>
        <p:nvSpPr>
          <p:cNvPr id="3" name="Замещающее содержимое 2"/>
          <p:cNvSpPr>
            <a:spLocks noGrp="1"/>
          </p:cNvSpPr>
          <p:nvPr>
            <p:ph sz="half" idx="1"/>
          </p:nvPr>
        </p:nvSpPr>
        <p:spPr/>
        <p:txBody>
          <a:bodyPr/>
          <a:p>
            <a:endParaRPr lang="ru-RU" altLang="en-US"/>
          </a:p>
        </p:txBody>
      </p:sp>
      <p:sp>
        <p:nvSpPr>
          <p:cNvPr id="4" name="Замещающее содержимое 3"/>
          <p:cNvSpPr>
            <a:spLocks noGrp="1"/>
          </p:cNvSpPr>
          <p:nvPr>
            <p:ph sz="half" idx="2"/>
          </p:nvPr>
        </p:nvSpPr>
        <p:spPr/>
        <p:txBody>
          <a:bodyPr/>
          <a:p>
            <a:endParaRPr lang="ru-RU" altLang="en-US"/>
          </a:p>
        </p:txBody>
      </p:sp>
      <p:sp>
        <p:nvSpPr>
          <p:cNvPr id="5" name="Текстовое поле 4"/>
          <p:cNvSpPr txBox="1"/>
          <p:nvPr/>
        </p:nvSpPr>
        <p:spPr>
          <a:xfrm>
            <a:off x="533400" y="1206500"/>
            <a:ext cx="4953000" cy="4769485"/>
          </a:xfrm>
          <a:prstGeom prst="rect">
            <a:avLst/>
          </a:prstGeom>
          <a:noFill/>
        </p:spPr>
        <p:txBody>
          <a:bodyPr wrap="square" rtlCol="0" anchor="t">
            <a:spAutoFit/>
          </a:bodyPr>
          <a:p>
            <a:r>
              <a:rPr lang="" altLang="en-US" sz="1900">
                <a:latin typeface="Calibri" panose="020F0502020204030204" charset="0"/>
                <a:cs typeface="Calibri" panose="020F0502020204030204" charset="0"/>
              </a:rPr>
              <a:t>Tested reward families:
- linear
- exponential
- gaussian
- cubic
Best current family:
- gaussian reward
- comfort weight = 0.9
- energy weight = 0.1
- sigma = 1.0
- offset = 0.2
- target temperature = 22 C
This was the strongest corrected configuration across the honest sweeps we ran.</a:t>
            </a:r>
            <a:endParaRPr lang="" altLang="en-US" sz="1900">
              <a:latin typeface="Calibri" panose="020F0502020204030204" charset="0"/>
              <a:cs typeface="Calibri" panose="020F0502020204030204" charset="0"/>
            </a:endParaRPr>
          </a:p>
        </p:txBody>
      </p:sp>
      <p:sp>
        <p:nvSpPr>
          <p:cNvPr id="6" name="Текстовое поле 5"/>
          <p:cNvSpPr txBox="1"/>
          <p:nvPr/>
        </p:nvSpPr>
        <p:spPr>
          <a:xfrm>
            <a:off x="5969000" y="1270000"/>
            <a:ext cx="5207000" cy="1568450"/>
          </a:xfrm>
          <a:prstGeom prst="rect">
            <a:avLst/>
          </a:prstGeom>
          <a:solidFill>
            <a:srgbClr val="F2F2F2"/>
          </a:solidFill>
          <a:ln>
            <a:noFill/>
          </a:ln>
        </p:spPr>
        <p:txBody>
          <a:bodyPr wrap="square" rtlCol="0" anchor="t">
            <a:spAutoFit/>
          </a:bodyPr>
          <a:p>
            <a:r>
              <a:rPr lang="" altLang="en-US" sz="1200">
                <a:latin typeface="Consolas" panose="020B0609020204030204" charset="0"/>
                <a:cs typeface="Consolas" panose="020B0609020204030204" charset="0"/>
              </a:rPr>
              <a:t>scalar_reward =
    w_comfort * r_comfort +
    w_energy  * (r_energy + r_control)
r_comfort =
    gaussian_peak *
    exp(-0.5 * (deviation / sigma)^2)
    - gaussian_offset</a:t>
            </a:r>
            <a:endParaRPr lang="" altLang="en-US" sz="1200">
              <a:latin typeface="Consolas" panose="020B0609020204030204" charset="0"/>
              <a:cs typeface="Consolas" panose="020B0609020204030204" charset="0"/>
            </a:endParaRPr>
          </a:p>
        </p:txBody>
      </p:sp>
      <p:sp>
        <p:nvSpPr>
          <p:cNvPr id="7" name="Текстовое поле 6"/>
          <p:cNvSpPr txBox="1"/>
          <p:nvPr/>
        </p:nvSpPr>
        <p:spPr>
          <a:xfrm>
            <a:off x="5969000" y="3810000"/>
            <a:ext cx="5207000" cy="829945"/>
          </a:xfrm>
          <a:prstGeom prst="rect">
            <a:avLst/>
          </a:prstGeom>
          <a:solidFill>
            <a:srgbClr val="F7F7F7"/>
          </a:solidFill>
          <a:ln>
            <a:noFill/>
          </a:ln>
        </p:spPr>
        <p:txBody>
          <a:bodyPr wrap="square" rtlCol="0" anchor="t">
            <a:spAutoFit/>
          </a:bodyPr>
          <a:p>
            <a:r>
              <a:rPr lang="" altLang="en-US" sz="1600">
                <a:latin typeface="Calibri" panose="020F0502020204030204" charset="0"/>
                <a:cs typeface="Calibri" panose="020F0502020204030204" charset="0"/>
              </a:rPr>
              <a:t>Exponential reward improved after BC warm-start but still underperformed the gaussian family in both comfort-energy trade-off and in-band occupancy.</a:t>
            </a:r>
            <a:endParaRPr lang="" altLang="en-US" sz="1600">
              <a:latin typeface="Calibri" panose="020F0502020204030204" charset="0"/>
              <a:cs typeface="Calibri" panose="020F0502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Step 3: RBC to Behavior-Cloning Warm-Start</a:t>
            </a:r>
            <a:endParaRPr lang="" altLang="en-US"/>
          </a:p>
        </p:txBody>
      </p:sp>
      <p:sp>
        <p:nvSpPr>
          <p:cNvPr id="3" name="Замещающее содержимое 2"/>
          <p:cNvSpPr>
            <a:spLocks noGrp="1"/>
          </p:cNvSpPr>
          <p:nvPr>
            <p:ph sz="half" idx="1"/>
          </p:nvPr>
        </p:nvSpPr>
        <p:spPr/>
        <p:txBody>
          <a:bodyPr/>
          <a:p>
            <a:endParaRPr lang="ru-RU" altLang="en-US"/>
          </a:p>
        </p:txBody>
      </p:sp>
      <p:sp>
        <p:nvSpPr>
          <p:cNvPr id="4" name="Замещающее содержимое 3"/>
          <p:cNvSpPr>
            <a:spLocks noGrp="1"/>
          </p:cNvSpPr>
          <p:nvPr>
            <p:ph sz="half" idx="2"/>
          </p:nvPr>
        </p:nvSpPr>
        <p:spPr/>
        <p:txBody>
          <a:bodyPr/>
          <a:p>
            <a:endParaRPr lang="ru-RU" altLang="en-US"/>
          </a:p>
        </p:txBody>
      </p:sp>
      <p:sp>
        <p:nvSpPr>
          <p:cNvPr id="5" name="Текстовое поле 4"/>
          <p:cNvSpPr txBox="1"/>
          <p:nvPr/>
        </p:nvSpPr>
        <p:spPr>
          <a:xfrm>
            <a:off x="533400" y="1206500"/>
            <a:ext cx="4953000" cy="3692525"/>
          </a:xfrm>
          <a:prstGeom prst="rect">
            <a:avLst/>
          </a:prstGeom>
          <a:noFill/>
        </p:spPr>
        <p:txBody>
          <a:bodyPr wrap="square" rtlCol="0" anchor="t">
            <a:spAutoFit/>
          </a:bodyPr>
          <a:p>
            <a:r>
              <a:rPr lang="" altLang="en-US">
                <a:latin typeface="Calibri" panose="020F0502020204030204" charset="0"/>
                <a:cs typeface="Calibri" panose="020F0502020204030204" charset="0"/>
              </a:rPr>
              <a:t>BC warm-start solved the cold-start failure mode:
- PPO from scratch tended to drift toward cold/high-power regimes
- RBC demonstrations anchor the policy in a safe thermal region
- RL fine-tuning then optimizes power around that anchor
Current BC summary:
- dataset size = 20000
- epochs = 40
- final BC loss = 0.112</a:t>
            </a:r>
            <a:endParaRPr lang="" altLang="en-US">
              <a:latin typeface="Calibri" panose="020F0502020204030204" charset="0"/>
              <a:cs typeface="Calibri" panose="020F0502020204030204" charset="0"/>
            </a:endParaRPr>
          </a:p>
        </p:txBody>
      </p:sp>
      <p:sp>
        <p:nvSpPr>
          <p:cNvPr id="6" name="Текстовое поле 5"/>
          <p:cNvSpPr txBox="1"/>
          <p:nvPr/>
        </p:nvSpPr>
        <p:spPr>
          <a:xfrm>
            <a:off x="5969000" y="1333500"/>
            <a:ext cx="5207000" cy="1568450"/>
          </a:xfrm>
          <a:prstGeom prst="rect">
            <a:avLst/>
          </a:prstGeom>
          <a:solidFill>
            <a:srgbClr val="F2F2F2"/>
          </a:solidFill>
          <a:ln>
            <a:noFill/>
          </a:ln>
        </p:spPr>
        <p:txBody>
          <a:bodyPr wrap="square" rtlCol="0" anchor="t">
            <a:spAutoFit/>
          </a:bodyPr>
          <a:p>
            <a:r>
              <a:rPr lang="" altLang="en-US" sz="1200">
                <a:latin typeface="Consolas" panose="020B0609020204030204" charset="0"/>
                <a:cs typeface="Consolas" panose="020B0609020204030204" charset="0"/>
              </a:rPr>
              <a:t>maybe_run_rbc_warmstart(
    model,
    env_factory=EnvFactory,
    env_cfg=env_cfg,
    warm_cfg=train_cfg["bc_warmstart"],
    seed=seed,
    out_dir=out_dir,
)</a:t>
            </a:r>
            <a:endParaRPr lang="" altLang="en-US" sz="1200">
              <a:latin typeface="Consolas" panose="020B0609020204030204" charset="0"/>
              <a:cs typeface="Consolas" panose="020B0609020204030204" charset="0"/>
            </a:endParaRPr>
          </a:p>
        </p:txBody>
      </p:sp>
      <p:sp>
        <p:nvSpPr>
          <p:cNvPr id="7" name="Текстовое поле 6"/>
          <p:cNvSpPr txBox="1"/>
          <p:nvPr/>
        </p:nvSpPr>
        <p:spPr>
          <a:xfrm>
            <a:off x="5969000" y="3429000"/>
            <a:ext cx="5207000" cy="1076325"/>
          </a:xfrm>
          <a:prstGeom prst="rect">
            <a:avLst/>
          </a:prstGeom>
          <a:solidFill>
            <a:srgbClr val="F7F7F7"/>
          </a:solidFill>
          <a:ln>
            <a:noFill/>
          </a:ln>
        </p:spPr>
        <p:txBody>
          <a:bodyPr wrap="square" rtlCol="0" anchor="t">
            <a:spAutoFit/>
          </a:bodyPr>
          <a:p>
            <a:r>
              <a:rPr lang="" altLang="en-US" sz="1600">
                <a:latin typeface="Calibri" panose="020F0502020204030204" charset="0"/>
                <a:cs typeface="Calibri" panose="020F0502020204030204" charset="0"/>
              </a:rPr>
              <a:t>Empirically this raised the corrected live PPO into the same operating region as RBC. The remaining challenge is no longer catastrophic failure, but the last comfort gap between PPO and RBC.</a:t>
            </a:r>
            <a:endParaRPr lang="" altLang="en-US" sz="1600">
              <a:latin typeface="Calibri" panose="020F0502020204030204" charset="0"/>
              <a:cs typeface="Calibri" panose="020F0502020204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Experimental Protocol and Logging</a:t>
            </a:r>
            <a:endParaRPr lang="" altLang="en-US"/>
          </a:p>
        </p:txBody>
      </p:sp>
      <p:sp>
        <p:nvSpPr>
          <p:cNvPr id="3" name="Замещающее содержимое 2"/>
          <p:cNvSpPr>
            <a:spLocks noGrp="1"/>
          </p:cNvSpPr>
          <p:nvPr>
            <p:ph idx="1"/>
          </p:nvPr>
        </p:nvSpPr>
        <p:spPr/>
        <p:txBody>
          <a:bodyPr/>
          <a:p>
            <a:r>
              <a:rPr lang="" altLang="en-US" sz="1900"/>
              <a:t>Legacy Sinergym protocol:
- EnergyPlus: Eplus-5Zone-hot-continuous-v1
- policies: PPO, Rule-based, Random, Zero-hold
- metrics: mean HVAC power, mean comfort penalty, p95 comfort penalty, in-band occupancy
- evaluation horizon: 500 steps for smoke-run reporting
Digital twin protocol:
- comfort traces from Thermostatic PPO and HDRL yearly controllers
- offline surrogate replay against BOPTEST traces
- metrics: RMSE, MAE, bias, actual/predicted in-band occupancy
- exported logs support exact mobile-app reproduction of the temperature-hold figure</a:t>
            </a:r>
            <a:endParaRPr lang="" altLang="en-US" sz="1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Current Legacy Sinergym Metrics</a:t>
            </a:r>
            <a:endParaRPr lang="" altLang="en-US"/>
          </a:p>
        </p:txBody>
      </p:sp>
      <p:sp>
        <p:nvSpPr>
          <p:cNvPr id="3" name="Замещающий текст 2"/>
          <p:cNvSpPr>
            <a:spLocks noGrp="1"/>
          </p:cNvSpPr>
          <p:nvPr>
            <p:ph type="body" idx="1"/>
          </p:nvPr>
        </p:nvSpPr>
        <p:spPr/>
        <p:txBody>
          <a:bodyPr/>
          <a:p>
            <a:endParaRPr lang="ru-RU" altLang="en-US"/>
          </a:p>
        </p:txBody>
      </p:sp>
      <p:sp>
        <p:nvSpPr>
          <p:cNvPr id="4" name="Замещающее содержимое 3"/>
          <p:cNvSpPr>
            <a:spLocks noGrp="1"/>
          </p:cNvSpPr>
          <p:nvPr>
            <p:ph sz="half" idx="2"/>
          </p:nvPr>
        </p:nvSpPr>
        <p:spPr/>
        <p:txBody>
          <a:bodyPr/>
          <a:p>
            <a:endParaRPr lang="ru-RU" altLang="en-US"/>
          </a:p>
        </p:txBody>
      </p:sp>
      <p:sp>
        <p:nvSpPr>
          <p:cNvPr id="5" name="Замещающий текст 4"/>
          <p:cNvSpPr>
            <a:spLocks noGrp="1"/>
          </p:cNvSpPr>
          <p:nvPr>
            <p:ph type="body" sz="quarter" idx="3"/>
          </p:nvPr>
        </p:nvSpPr>
        <p:spPr/>
        <p:txBody>
          <a:bodyPr/>
          <a:p>
            <a:endParaRPr lang="ru-RU" altLang="en-US"/>
          </a:p>
        </p:txBody>
      </p:sp>
      <p:sp>
        <p:nvSpPr>
          <p:cNvPr id="6" name="Замещающее содержимое 5"/>
          <p:cNvSpPr>
            <a:spLocks noGrp="1"/>
          </p:cNvSpPr>
          <p:nvPr>
            <p:ph sz="quarter" idx="4"/>
          </p:nvPr>
        </p:nvSpPr>
        <p:spPr/>
        <p:txBody>
          <a:bodyPr/>
          <a:p>
            <a:endParaRPr lang="ru-RU" altLang="en-US"/>
          </a:p>
        </p:txBody>
      </p:sp>
      <p:sp>
        <p:nvSpPr>
          <p:cNvPr id="7" name="Текстовое поле 6"/>
          <p:cNvSpPr txBox="1"/>
          <p:nvPr/>
        </p:nvSpPr>
        <p:spPr>
          <a:xfrm>
            <a:off x="508000" y="1397000"/>
            <a:ext cx="3175000" cy="3322955"/>
          </a:xfrm>
          <a:prstGeom prst="rect">
            <a:avLst/>
          </a:prstGeom>
          <a:solidFill>
            <a:srgbClr val="F7F7F7"/>
          </a:solidFill>
          <a:ln>
            <a:noFill/>
          </a:ln>
        </p:spPr>
        <p:txBody>
          <a:bodyPr wrap="square" rtlCol="0" anchor="t">
            <a:spAutoFit/>
          </a:bodyPr>
          <a:p>
            <a:r>
              <a:rPr lang="" altLang="en-US" sz="2100">
                <a:latin typeface="Calibri" panose="020F0502020204030204" charset="0"/>
                <a:cs typeface="Calibri" panose="020F0502020204030204" charset="0"/>
              </a:rPr>
              <a:t>Thesis benchmark
Mean HVAC power:
410-420 W
Mean comfort penalty:
~1.8
P95 comfort penalty:
~0.42</a:t>
            </a:r>
            <a:endParaRPr lang="" altLang="en-US" sz="2100">
              <a:latin typeface="Calibri" panose="020F0502020204030204" charset="0"/>
              <a:cs typeface="Calibri" panose="020F0502020204030204" charset="0"/>
            </a:endParaRPr>
          </a:p>
        </p:txBody>
      </p:sp>
      <p:sp>
        <p:nvSpPr>
          <p:cNvPr id="8" name="Текстовое поле 7"/>
          <p:cNvSpPr txBox="1"/>
          <p:nvPr/>
        </p:nvSpPr>
        <p:spPr>
          <a:xfrm>
            <a:off x="4191000" y="1397000"/>
            <a:ext cx="3175000" cy="2030095"/>
          </a:xfrm>
          <a:prstGeom prst="rect">
            <a:avLst/>
          </a:prstGeom>
          <a:solidFill>
            <a:srgbClr val="F7F7F7"/>
          </a:solidFill>
          <a:ln>
            <a:noFill/>
          </a:ln>
        </p:spPr>
        <p:txBody>
          <a:bodyPr wrap="square" rtlCol="0" anchor="t">
            <a:spAutoFit/>
          </a:bodyPr>
          <a:p>
            <a:r>
              <a:rPr lang="" altLang="en-US" sz="2100">
                <a:latin typeface="Calibri" panose="020F0502020204030204" charset="0"/>
                <a:cs typeface="Calibri" panose="020F0502020204030204" charset="0"/>
              </a:rPr>
              <a:t>Current PPO
Power: 499.8 W
Comfort: 11
P95: 89.14
In-band: 41%</a:t>
            </a:r>
            <a:endParaRPr lang="" altLang="en-US" sz="2100">
              <a:latin typeface="Calibri" panose="020F0502020204030204" charset="0"/>
              <a:cs typeface="Calibri" panose="020F0502020204030204" charset="0"/>
            </a:endParaRPr>
          </a:p>
        </p:txBody>
      </p:sp>
      <p:sp>
        <p:nvSpPr>
          <p:cNvPr id="9" name="Текстовое поле 8"/>
          <p:cNvSpPr txBox="1"/>
          <p:nvPr/>
        </p:nvSpPr>
        <p:spPr>
          <a:xfrm>
            <a:off x="7874000" y="1397000"/>
            <a:ext cx="3175000" cy="2030095"/>
          </a:xfrm>
          <a:prstGeom prst="rect">
            <a:avLst/>
          </a:prstGeom>
          <a:solidFill>
            <a:srgbClr val="F7F7F7"/>
          </a:solidFill>
          <a:ln>
            <a:noFill/>
          </a:ln>
        </p:spPr>
        <p:txBody>
          <a:bodyPr wrap="square" rtlCol="0" anchor="t">
            <a:spAutoFit/>
          </a:bodyPr>
          <a:p>
            <a:r>
              <a:rPr lang="" altLang="en-US" sz="2100">
                <a:latin typeface="Calibri" panose="020F0502020204030204" charset="0"/>
                <a:cs typeface="Calibri" panose="020F0502020204030204" charset="0"/>
              </a:rPr>
              <a:t>Rule-based control
Power: 518.24 W
Comfort: 10.94
P95: 89.49
In-band: 59%</a:t>
            </a:r>
            <a:endParaRPr lang="" altLang="en-US" sz="2100">
              <a:latin typeface="Calibri" panose="020F0502020204030204" charset="0"/>
              <a:cs typeface="Calibri" panose="020F0502020204030204" charset="0"/>
            </a:endParaRPr>
          </a:p>
        </p:txBody>
      </p:sp>
      <p:sp>
        <p:nvSpPr>
          <p:cNvPr id="10" name="Текстовое поле 9"/>
          <p:cNvSpPr txBox="1"/>
          <p:nvPr/>
        </p:nvSpPr>
        <p:spPr>
          <a:xfrm>
            <a:off x="698500" y="4889500"/>
            <a:ext cx="10414000" cy="645160"/>
          </a:xfrm>
          <a:prstGeom prst="rect">
            <a:avLst/>
          </a:prstGeom>
          <a:noFill/>
        </p:spPr>
        <p:txBody>
          <a:bodyPr wrap="square" rtlCol="0" anchor="t">
            <a:spAutoFit/>
          </a:bodyPr>
          <a:p>
            <a:r>
              <a:rPr lang="" altLang="en-US">
                <a:latin typeface="Calibri" panose="020F0502020204030204" charset="0"/>
                <a:cs typeface="Calibri" panose="020F0502020204030204" charset="0"/>
              </a:rPr>
              <a:t>Interpretation: the corrected PPO already beats RBC on power, but still trails RBC slightly on comfort. This is the central optimization gap that remains to be closed.</a:t>
            </a:r>
            <a:endParaRPr lang="" altLang="en-US">
              <a:latin typeface="Calibri" panose="020F0502020204030204" charset="0"/>
              <a:cs typeface="Calibri" panose="020F0502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Live Baseline Comparison</a:t>
            </a:r>
            <a:endParaRPr lang="" altLang="en-US"/>
          </a:p>
        </p:txBody>
      </p:sp>
      <p:pic>
        <p:nvPicPr>
          <p:cNvPr id="3" name="Изображение 2" descr="live_fig1_baseline_comparison"/>
          <p:cNvPicPr>
            <a:picLocks noChangeAspect="1"/>
          </p:cNvPicPr>
          <p:nvPr/>
        </p:nvPicPr>
        <p:blipFill>
          <a:blip r:embed="rId1"/>
          <a:stretch>
            <a:fillRect/>
          </a:stretch>
        </p:blipFill>
        <p:spPr>
          <a:xfrm>
            <a:off x="444500" y="1016000"/>
            <a:ext cx="11430000" cy="5461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Representative PPO and RBC Trajectories</a:t>
            </a:r>
            <a:endParaRPr lang="" altLang="en-US"/>
          </a:p>
        </p:txBody>
      </p:sp>
      <p:pic>
        <p:nvPicPr>
          <p:cNvPr id="3" name="Изображение 2" descr="live_fig2_representative_trajectories"/>
          <p:cNvPicPr>
            <a:picLocks noChangeAspect="1"/>
          </p:cNvPicPr>
          <p:nvPr/>
        </p:nvPicPr>
        <p:blipFill>
          <a:blip r:embed="rId1"/>
          <a:stretch>
            <a:fillRect/>
          </a:stretch>
        </p:blipFill>
        <p:spPr>
          <a:xfrm>
            <a:off x="444500" y="1016000"/>
            <a:ext cx="11430000" cy="5461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Digital Twin Validation Workflow and Plot Logs</a:t>
            </a:r>
            <a:endParaRPr lang="" altLang="en-US"/>
          </a:p>
        </p:txBody>
      </p:sp>
      <p:sp>
        <p:nvSpPr>
          <p:cNvPr id="3" name="Замещающее содержимое 2"/>
          <p:cNvSpPr>
            <a:spLocks noGrp="1"/>
          </p:cNvSpPr>
          <p:nvPr>
            <p:ph sz="half" idx="1"/>
          </p:nvPr>
        </p:nvSpPr>
        <p:spPr/>
        <p:txBody>
          <a:bodyPr/>
          <a:p>
            <a:endParaRPr lang="ru-RU" altLang="en-US"/>
          </a:p>
        </p:txBody>
      </p:sp>
      <p:sp>
        <p:nvSpPr>
          <p:cNvPr id="4" name="Замещающее содержимое 3"/>
          <p:cNvSpPr>
            <a:spLocks noGrp="1"/>
          </p:cNvSpPr>
          <p:nvPr>
            <p:ph sz="half" idx="2"/>
          </p:nvPr>
        </p:nvSpPr>
        <p:spPr/>
        <p:txBody>
          <a:bodyPr/>
          <a:p>
            <a:endParaRPr lang="ru-RU" altLang="en-US"/>
          </a:p>
        </p:txBody>
      </p:sp>
      <p:sp>
        <p:nvSpPr>
          <p:cNvPr id="5" name="Текстовое поле 4"/>
          <p:cNvSpPr txBox="1"/>
          <p:nvPr/>
        </p:nvSpPr>
        <p:spPr>
          <a:xfrm>
            <a:off x="533400" y="1206500"/>
            <a:ext cx="4953000" cy="3692525"/>
          </a:xfrm>
          <a:prstGeom prst="rect">
            <a:avLst/>
          </a:prstGeom>
          <a:noFill/>
        </p:spPr>
        <p:txBody>
          <a:bodyPr wrap="square" rtlCol="0" anchor="t">
            <a:spAutoFit/>
          </a:bodyPr>
          <a:p>
            <a:r>
              <a:rPr lang="" altLang="en-US">
                <a:latin typeface="Calibri" panose="020F0502020204030204" charset="0"/>
                <a:cs typeface="Calibri" panose="020F0502020204030204" charset="0"/>
              </a:rPr>
              <a:t>For the surrogate digital twin we do not validate on arbitrary exploratory trajectories. Instead, we replay comfort-oriented action traces exported from Thermostatic PPO and HDRL yearly controllers.
Plot-ready files produced by the pipeline:
- surrogate_v3_log.csv
- boptest_comfort_trace_log.csv
- surrogate_temperature_hold_plot_long.csv
- surrogate_temperature_hold_plot_meta.json
These files are sufficient to reproduce the figure exactly in a mobile application.</a:t>
            </a:r>
            <a:endParaRPr lang="" altLang="en-US">
              <a:latin typeface="Calibri" panose="020F0502020204030204" charset="0"/>
              <a:cs typeface="Calibri" panose="020F0502020204030204" charset="0"/>
            </a:endParaRPr>
          </a:p>
        </p:txBody>
      </p:sp>
      <p:sp>
        <p:nvSpPr>
          <p:cNvPr id="6" name="Текстовое поле 5"/>
          <p:cNvSpPr txBox="1"/>
          <p:nvPr/>
        </p:nvSpPr>
        <p:spPr>
          <a:xfrm>
            <a:off x="5969000" y="1333500"/>
            <a:ext cx="5207000" cy="1568450"/>
          </a:xfrm>
          <a:prstGeom prst="rect">
            <a:avLst/>
          </a:prstGeom>
          <a:solidFill>
            <a:srgbClr val="F2F2F2"/>
          </a:solidFill>
          <a:ln>
            <a:noFill/>
          </a:ln>
        </p:spPr>
        <p:txBody>
          <a:bodyPr wrap="square" rtlCol="0" anchor="t">
            <a:spAutoFit/>
          </a:bodyPr>
          <a:p>
            <a:r>
              <a:rPr lang="" altLang="en-US" sz="1200">
                <a:latin typeface="Consolas" panose="020B0609020204030204" charset="0"/>
                <a:cs typeface="Consolas" panose="020B0609020204030204" charset="0"/>
              </a:rPr>
              <a:t>for trace in comfort_traces:
    replay = surrogate_rollout(model, trace)
    compare(
        actual_t_zone=trace["actual_t_zone"],
        pred_t_zone=replay["pred_t_zone"],
        actual_power=trace["actual_power_w"],
        pred_power=replay["pred_power_w"],
    )</a:t>
            </a:r>
            <a:endParaRPr lang="" altLang="en-US" sz="1200">
              <a:latin typeface="Consolas" panose="020B0609020204030204" charset="0"/>
              <a:cs typeface="Consolas" panose="020B0609020204030204" charset="0"/>
            </a:endParaRPr>
          </a:p>
        </p:txBody>
      </p:sp>
      <p:sp>
        <p:nvSpPr>
          <p:cNvPr id="7" name="Текстовое поле 6"/>
          <p:cNvSpPr txBox="1"/>
          <p:nvPr/>
        </p:nvSpPr>
        <p:spPr>
          <a:xfrm>
            <a:off x="5969000" y="4000500"/>
            <a:ext cx="5207000" cy="829945"/>
          </a:xfrm>
          <a:prstGeom prst="rect">
            <a:avLst/>
          </a:prstGeom>
          <a:solidFill>
            <a:srgbClr val="F7F7F7"/>
          </a:solidFill>
          <a:ln>
            <a:noFill/>
          </a:ln>
        </p:spPr>
        <p:txBody>
          <a:bodyPr wrap="square" rtlCol="0" anchor="t">
            <a:spAutoFit/>
          </a:bodyPr>
          <a:p>
            <a:r>
              <a:rPr lang="" altLang="en-US" sz="1600">
                <a:latin typeface="Calibri" panose="020F0502020204030204" charset="0"/>
                <a:cs typeface="Calibri" panose="020F0502020204030204" charset="0"/>
              </a:rPr>
              <a:t>The digital twin is therefore evaluated as a replay model aligned with the real BOPTEST control traces, not as a free-running visual toy.</a:t>
            </a:r>
            <a:endParaRPr lang="" altLang="en-US" sz="1600">
              <a:latin typeface="Calibri" panose="020F0502020204030204" charset="0"/>
              <a:cs typeface="Calibri" panose="020F050202020403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Surrogate v3 vs BOPTEST on Yearly Comfort Traces</a:t>
            </a:r>
            <a:endParaRPr lang="" altLang="en-US"/>
          </a:p>
        </p:txBody>
      </p:sp>
      <p:pic>
        <p:nvPicPr>
          <p:cNvPr id="3" name="Изображение 2" descr="surrogate_v3_vs_boptest_yearly"/>
          <p:cNvPicPr>
            <a:picLocks noChangeAspect="1"/>
          </p:cNvPicPr>
          <p:nvPr/>
        </p:nvPicPr>
        <p:blipFill>
          <a:blip r:embed="rId1"/>
          <a:stretch>
            <a:fillRect/>
          </a:stretch>
        </p:blipFill>
        <p:spPr>
          <a:xfrm>
            <a:off x="444500" y="1016000"/>
            <a:ext cx="11430000" cy="5461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Surrogate Parity and Controller-Level Digital Twin Metrics</a:t>
            </a:r>
            <a:endParaRPr lang="" altLang="en-US"/>
          </a:p>
        </p:txBody>
      </p:sp>
      <p:pic>
        <p:nvPicPr>
          <p:cNvPr id="5" name="Замещающее содержимое 4" descr="surrogate_v3_vs_boptest_parity"/>
          <p:cNvPicPr>
            <a:picLocks noChangeAspect="1"/>
          </p:cNvPicPr>
          <p:nvPr>
            <p:ph sz="half" idx="1"/>
          </p:nvPr>
        </p:nvPicPr>
        <p:blipFill>
          <a:blip r:embed="rId1"/>
          <a:stretch>
            <a:fillRect/>
          </a:stretch>
        </p:blipFill>
        <p:spPr>
          <a:xfrm>
            <a:off x="457200" y="3021330"/>
            <a:ext cx="4038600" cy="1682750"/>
          </a:xfrm>
          <a:prstGeom prst="rect">
            <a:avLst/>
          </a:prstGeom>
        </p:spPr>
      </p:pic>
      <p:sp>
        <p:nvSpPr>
          <p:cNvPr id="4" name="Замещающее содержимое 3"/>
          <p:cNvSpPr>
            <a:spLocks noGrp="1"/>
          </p:cNvSpPr>
          <p:nvPr>
            <p:ph sz="half" idx="2"/>
          </p:nvPr>
        </p:nvSpPr>
        <p:spPr/>
        <p:txBody>
          <a:bodyPr/>
          <a:p>
            <a:endParaRPr lang="ru-RU" altLang="en-US"/>
          </a:p>
        </p:txBody>
      </p:sp>
      <p:sp>
        <p:nvSpPr>
          <p:cNvPr id="6" name="Текстовое поле 5"/>
          <p:cNvSpPr txBox="1"/>
          <p:nvPr/>
        </p:nvSpPr>
        <p:spPr>
          <a:xfrm>
            <a:off x="6731000" y="1270000"/>
            <a:ext cx="4381500" cy="3784600"/>
          </a:xfrm>
          <a:prstGeom prst="rect">
            <a:avLst/>
          </a:prstGeom>
          <a:solidFill>
            <a:srgbClr val="F7F7F7"/>
          </a:solidFill>
          <a:ln>
            <a:noFill/>
          </a:ln>
        </p:spPr>
        <p:txBody>
          <a:bodyPr wrap="square" rtlCol="0" anchor="t">
            <a:spAutoFit/>
          </a:bodyPr>
          <a:p>
            <a:r>
              <a:rPr lang="" altLang="en-US" sz="1600">
                <a:latin typeface="Calibri" panose="020F0502020204030204" charset="0"/>
                <a:cs typeface="Calibri" panose="020F0502020204030204" charset="0"/>
              </a:rPr>
              <a:t>Surrogate validation summary
Thermostatic PPO
- RMSE: 1.59 C
- MAE: 1.35 C
- Bias: +1 C
- Actual in-band: 82.1%
- Predicted in-band: 97.4%
HDRL
- RMSE: 1.89 C
- MAE: 1.59 C
- Bias: +1.21 C
- Actual in-band: 88.8%
- Predicted in-band: 93.8%</a:t>
            </a:r>
            <a:endParaRPr lang="" altLang="en-US" sz="1600">
              <a:latin typeface="Calibri" panose="020F0502020204030204" charset="0"/>
              <a:cs typeface="Calibri" panose="020F0502020204030204" charset="0"/>
            </a:endParaRPr>
          </a:p>
        </p:txBody>
      </p:sp>
      <p:sp>
        <p:nvSpPr>
          <p:cNvPr id="7" name="Текстовое поле 6"/>
          <p:cNvSpPr txBox="1"/>
          <p:nvPr/>
        </p:nvSpPr>
        <p:spPr>
          <a:xfrm>
            <a:off x="6731000" y="4127500"/>
            <a:ext cx="4381500" cy="3784600"/>
          </a:xfrm>
          <a:prstGeom prst="rect">
            <a:avLst/>
          </a:prstGeom>
          <a:solidFill>
            <a:srgbClr val="F7F7F7"/>
          </a:solidFill>
          <a:ln>
            <a:noFill/>
          </a:ln>
        </p:spPr>
        <p:txBody>
          <a:bodyPr wrap="square" rtlCol="0" anchor="t">
            <a:spAutoFit/>
          </a:bodyPr>
          <a:p>
            <a:r>
              <a:rPr lang="" altLang="en-US" sz="1500">
                <a:latin typeface="Calibri" panose="020F0502020204030204" charset="0"/>
                <a:cs typeface="Calibri" panose="020F0502020204030204" charset="0"/>
              </a:rPr>
              <a:t>BOPTEST controller summary
Thermostatic PPO
- MAE22: 0.72 C
- within 1C: 72.3%
- energy total: 3078.07 kWh
HDRL
- MAE22: 0.9 C
- within 1C: 66%
- energy total: 2956.33 kWh
Standard PI
- MAE22: 2.84 C
- within 1C: 16.5%
- energy total: 1230.19 kWh</a:t>
            </a:r>
            <a:endParaRPr lang="" altLang="en-US" sz="1500">
              <a:latin typeface="Calibri" panose="020F0502020204030204" charset="0"/>
              <a:cs typeface="Calibri" panose="020F0502020204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r>
              <a:rPr lang="" altLang="en-US"/>
              <a:t>Conclusions and Roadmap</a:t>
            </a:r>
            <a:endParaRPr lang="" altLang="en-US"/>
          </a:p>
        </p:txBody>
      </p:sp>
      <p:sp>
        <p:nvSpPr>
          <p:cNvPr id="3" name="Замещающее содержимое 2"/>
          <p:cNvSpPr>
            <a:spLocks noGrp="1"/>
          </p:cNvSpPr>
          <p:nvPr>
            <p:ph idx="1"/>
          </p:nvPr>
        </p:nvSpPr>
        <p:spPr/>
        <p:txBody>
          <a:bodyPr>
            <a:noAutofit/>
          </a:bodyPr>
          <a:p>
            <a:r>
              <a:rPr lang="" altLang="en-US" sz="1900"/>
              <a:t>Main takeaways:
- the corrected Sinergym branch is now physically meaningful and reproducible
- Gaussian MORL reward + BC warm-start is the strongest legacy configuration found so far
- PPO already beats RBC on energy, but still trails RBC slightly on comfort
- the digital twin tracks BOPTEST trends but still has a warm bias
Immediate next steps:
- narrow sweep over BC intensity and PPO learning rate
- keep the current gaussian reward fixed
- reduce surrogate warm bias before using the twin as a final comfort evaluator
Honest status versus ArticleRus:
- we are competitive and reproducible
- we are not yet at the thesis target metrics</a:t>
            </a:r>
            <a:endParaRPr lang="" altLang="en-US" sz="1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7846</Words>
  <Application>WPS Presentation</Application>
  <PresentationFormat>Custom</PresentationFormat>
  <Paragraphs>98</Paragraphs>
  <Slides>15</Slides>
  <Notes>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vt:i4>
      </vt:variant>
    </vt:vector>
  </HeadingPairs>
  <TitlesOfParts>
    <vt:vector size="29" baseType="lpstr">
      <vt:lpstr>Arial</vt:lpstr>
      <vt:lpstr>SimSun</vt:lpstr>
      <vt:lpstr>Wingdings</vt:lpstr>
      <vt:lpstr>Arial</vt:lpstr>
      <vt:lpstr>Times New Roman</vt:lpstr>
      <vt:lpstr>MS Mincho</vt:lpstr>
      <vt:lpstr>Yu Gothic UI</vt:lpstr>
      <vt:lpstr>Georgia</vt:lpstr>
      <vt:lpstr>Grandview Display</vt:lpstr>
      <vt:lpstr>Segoe Print</vt:lpstr>
      <vt:lpstr>Cambria Math</vt:lpstr>
      <vt:lpstr>Calibri</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Алмаз Сапаргали</cp:lastModifiedBy>
  <cp:revision>16</cp:revision>
  <dcterms:created xsi:type="dcterms:W3CDTF">2013-01-27T09:14:00Z</dcterms:created>
  <dcterms:modified xsi:type="dcterms:W3CDTF">2026-04-05T08:45:13Z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809E99C95E0C4A64BB07335A90A0F0B1_13</vt:lpwstr>
  </property>
  <property fmtid="{D5CDD505-2E9C-101B-9397-08002B2CF9AE}" pid="3" name="KSOProductBuildVer">
    <vt:lpwstr>1049-12.2.0.23196</vt:lpwstr>
  </property>
</Properties>
</file>